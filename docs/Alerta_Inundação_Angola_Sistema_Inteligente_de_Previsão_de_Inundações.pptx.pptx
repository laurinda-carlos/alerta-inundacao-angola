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10136734" cy="10443253"/>
          </a:xfrm>
          <a:custGeom>
            <a:avLst/>
            <a:gdLst/>
            <a:ahLst/>
            <a:cxnLst/>
            <a:rect r="r" b="b" t="t" l="l"/>
            <a:pathLst>
              <a:path h="10443253" w="10136734">
                <a:moveTo>
                  <a:pt x="0" y="0"/>
                </a:moveTo>
                <a:lnTo>
                  <a:pt x="10136734" y="0"/>
                </a:lnTo>
                <a:lnTo>
                  <a:pt x="10136734" y="10443253"/>
                </a:lnTo>
                <a:lnTo>
                  <a:pt x="0" y="1044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918" t="0" r="-5807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03953" y="2844705"/>
            <a:ext cx="8896173" cy="2376921"/>
            <a:chOff x="0" y="0"/>
            <a:chExt cx="2343025" cy="626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3025" cy="626020"/>
            </a:xfrm>
            <a:custGeom>
              <a:avLst/>
              <a:gdLst/>
              <a:ahLst/>
              <a:cxnLst/>
              <a:rect r="r" b="b" t="t" l="l"/>
              <a:pathLst>
                <a:path h="626020" w="2343025">
                  <a:moveTo>
                    <a:pt x="44383" y="0"/>
                  </a:moveTo>
                  <a:lnTo>
                    <a:pt x="2298642" y="0"/>
                  </a:lnTo>
                  <a:cubicBezTo>
                    <a:pt x="2323154" y="0"/>
                    <a:pt x="2343025" y="19871"/>
                    <a:pt x="2343025" y="44383"/>
                  </a:cubicBezTo>
                  <a:lnTo>
                    <a:pt x="2343025" y="581637"/>
                  </a:lnTo>
                  <a:cubicBezTo>
                    <a:pt x="2343025" y="606149"/>
                    <a:pt x="2323154" y="626020"/>
                    <a:pt x="2298642" y="626020"/>
                  </a:cubicBezTo>
                  <a:lnTo>
                    <a:pt x="44383" y="626020"/>
                  </a:lnTo>
                  <a:cubicBezTo>
                    <a:pt x="19871" y="626020"/>
                    <a:pt x="0" y="606149"/>
                    <a:pt x="0" y="581637"/>
                  </a:cubicBezTo>
                  <a:lnTo>
                    <a:pt x="0" y="44383"/>
                  </a:lnTo>
                  <a:cubicBezTo>
                    <a:pt x="0" y="19871"/>
                    <a:pt x="19871" y="0"/>
                    <a:pt x="44383" y="0"/>
                  </a:cubicBezTo>
                  <a:close/>
                </a:path>
              </a:pathLst>
            </a:custGeom>
            <a:solidFill>
              <a:srgbClr val="1C1B96">
                <a:alpha val="7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43025" cy="67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20710" y="2801467"/>
            <a:ext cx="11046526" cy="129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9"/>
              </a:lnSpc>
            </a:pPr>
            <a:r>
              <a:rPr lang="en-US" b="true" sz="6588" spc="-2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Alerta Inundação Angola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20737" y="4168379"/>
            <a:ext cx="11046526" cy="66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279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Inteligente de Previsão de Inundações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4355" y="5048250"/>
            <a:ext cx="3613530" cy="55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035" spc="8">
                <a:solidFill>
                  <a:srgbClr val="F8FFF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Equipa do Projeto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00125" y="5581435"/>
            <a:ext cx="3528767" cy="342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3"/>
              </a:lnSpc>
            </a:pPr>
            <a:r>
              <a:rPr lang="en-US" b="true" sz="3379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Geronimo Beco</a:t>
            </a:r>
          </a:p>
          <a:p>
            <a:pPr algn="just">
              <a:lnSpc>
                <a:spcPts val="6893"/>
              </a:lnSpc>
            </a:pPr>
            <a:r>
              <a:rPr lang="en-US" b="true" sz="3379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Iveth de Lima</a:t>
            </a:r>
          </a:p>
          <a:p>
            <a:pPr algn="just">
              <a:lnSpc>
                <a:spcPts val="6893"/>
              </a:lnSpc>
            </a:pPr>
            <a:r>
              <a:rPr lang="en-US" b="true" sz="3379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Laurinda Carlos</a:t>
            </a:r>
          </a:p>
          <a:p>
            <a:pPr algn="just">
              <a:lnSpc>
                <a:spcPts val="6896"/>
              </a:lnSpc>
            </a:pPr>
            <a:r>
              <a:rPr lang="en-US" b="true" sz="3379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Pitchi Sidibe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24712" y="2267712"/>
            <a:ext cx="6920528" cy="5751576"/>
            <a:chOff x="0" y="0"/>
            <a:chExt cx="9227371" cy="766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27312" cy="7668768"/>
            </a:xfrm>
            <a:custGeom>
              <a:avLst/>
              <a:gdLst/>
              <a:ahLst/>
              <a:cxnLst/>
              <a:rect r="r" b="b" t="t" l="l"/>
              <a:pathLst>
                <a:path h="7668768" w="9227312">
                  <a:moveTo>
                    <a:pt x="24384" y="0"/>
                  </a:moveTo>
                  <a:lnTo>
                    <a:pt x="9202928" y="0"/>
                  </a:lnTo>
                  <a:cubicBezTo>
                    <a:pt x="9216390" y="0"/>
                    <a:pt x="9227312" y="10922"/>
                    <a:pt x="9227312" y="24384"/>
                  </a:cubicBezTo>
                  <a:lnTo>
                    <a:pt x="9227312" y="7644384"/>
                  </a:lnTo>
                  <a:cubicBezTo>
                    <a:pt x="9227312" y="7657846"/>
                    <a:pt x="9216390" y="7668768"/>
                    <a:pt x="9202928" y="7668768"/>
                  </a:cubicBezTo>
                  <a:lnTo>
                    <a:pt x="24384" y="7668768"/>
                  </a:lnTo>
                  <a:cubicBezTo>
                    <a:pt x="10922" y="7668768"/>
                    <a:pt x="0" y="7657846"/>
                    <a:pt x="0" y="7644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7644384"/>
                  </a:lnTo>
                  <a:lnTo>
                    <a:pt x="24384" y="7644384"/>
                  </a:lnTo>
                  <a:lnTo>
                    <a:pt x="24384" y="7620000"/>
                  </a:lnTo>
                  <a:lnTo>
                    <a:pt x="9202928" y="7620000"/>
                  </a:lnTo>
                  <a:lnTo>
                    <a:pt x="9202928" y="7644384"/>
                  </a:lnTo>
                  <a:lnTo>
                    <a:pt x="9178544" y="7644384"/>
                  </a:lnTo>
                  <a:lnTo>
                    <a:pt x="9178544" y="24384"/>
                  </a:lnTo>
                  <a:lnTo>
                    <a:pt x="9202928" y="24384"/>
                  </a:lnTo>
                  <a:lnTo>
                    <a:pt x="9202928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" y="2286000"/>
            <a:ext cx="6883952" cy="5715000"/>
            <a:chOff x="0" y="0"/>
            <a:chExt cx="9178603" cy="7620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78544" cy="7620000"/>
            </a:xfrm>
            <a:custGeom>
              <a:avLst/>
              <a:gdLst/>
              <a:ahLst/>
              <a:cxnLst/>
              <a:rect r="r" b="b" t="t" l="l"/>
              <a:pathLst>
                <a:path h="7620000" w="9178544">
                  <a:moveTo>
                    <a:pt x="0" y="0"/>
                  </a:moveTo>
                  <a:lnTo>
                    <a:pt x="9178544" y="0"/>
                  </a:lnTo>
                  <a:lnTo>
                    <a:pt x="9178544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t="0" r="-1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312" y="7325916"/>
            <a:ext cx="3483526" cy="460772"/>
            <a:chOff x="0" y="0"/>
            <a:chExt cx="4644701" cy="6143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44644" cy="614426"/>
            </a:xfrm>
            <a:custGeom>
              <a:avLst/>
              <a:gdLst/>
              <a:ahLst/>
              <a:cxnLst/>
              <a:rect r="r" b="b" t="t" l="l"/>
              <a:pathLst>
                <a:path h="614426" w="4644644">
                  <a:moveTo>
                    <a:pt x="0" y="0"/>
                  </a:moveTo>
                  <a:lnTo>
                    <a:pt x="4644644" y="0"/>
                  </a:lnTo>
                  <a:lnTo>
                    <a:pt x="4644644" y="614426"/>
                  </a:lnTo>
                  <a:lnTo>
                    <a:pt x="0" y="614426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93329" y="7365413"/>
            <a:ext cx="3211492" cy="35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168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Inundação Urbana - Luanda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4202" y="1851347"/>
            <a:ext cx="8260798" cy="148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Desafio das Inundações em Angola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4202" y="3071359"/>
            <a:ext cx="571500" cy="571500"/>
            <a:chOff x="0" y="0"/>
            <a:chExt cx="762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4202" y="3071359"/>
            <a:ext cx="571500" cy="571500"/>
            <a:chOff x="0" y="0"/>
            <a:chExt cx="762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762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b="true" sz="1974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41452" y="2938009"/>
            <a:ext cx="7403548" cy="65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5"/>
              </a:lnSpc>
            </a:pPr>
            <a:r>
              <a:rPr lang="en-US" b="true" sz="3467" spc="4">
                <a:solidFill>
                  <a:srgbClr val="1C1B9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41452" y="3480934"/>
            <a:ext cx="7403548" cy="145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6"/>
              </a:lnSpc>
            </a:pPr>
            <a:r>
              <a:rPr lang="en-US" sz="21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Inundações recorrentes em áreas urbanas de Angola, com foco especial em </a:t>
            </a:r>
            <a:r>
              <a:rPr lang="en-US" b="true" sz="2159">
                <a:solidFill>
                  <a:srgbClr val="282C2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Luanda</a:t>
            </a:r>
            <a:r>
              <a:rPr lang="en-US" sz="21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, causadas por precipitação intensa e infraestrutura inadequada.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58250" y="5143500"/>
            <a:ext cx="571500" cy="571500"/>
            <a:chOff x="0" y="0"/>
            <a:chExt cx="762000" cy="76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884202" y="5070946"/>
            <a:ext cx="571500" cy="571500"/>
            <a:chOff x="0" y="0"/>
            <a:chExt cx="762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762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b="true" sz="1974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41452" y="5028819"/>
            <a:ext cx="7403548" cy="61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b="true" sz="3167" spc="4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1452" y="5718646"/>
            <a:ext cx="7403548" cy="139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0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Causam </a:t>
            </a:r>
            <a:r>
              <a:rPr lang="en-US" b="true" sz="2059">
                <a:solidFill>
                  <a:srgbClr val="282C2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perdas humanas e materiais significativas</a:t>
            </a:r>
            <a:r>
              <a:rPr lang="en-US" sz="20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, afetando especialmente comunidades vulneráveis em musseques e áreas de risco.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84202" y="7786688"/>
            <a:ext cx="571500" cy="571500"/>
            <a:chOff x="0" y="0"/>
            <a:chExt cx="76200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884202" y="7753424"/>
            <a:ext cx="571500" cy="571500"/>
            <a:chOff x="0" y="0"/>
            <a:chExt cx="762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7620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b="true" sz="1974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41452" y="7397120"/>
            <a:ext cx="7403548" cy="52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b="true" sz="2767" spc="3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Lacuna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41452" y="7866888"/>
            <a:ext cx="7403548" cy="93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0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Ausência de </a:t>
            </a:r>
            <a:r>
              <a:rPr lang="en-US" b="true" sz="2059">
                <a:solidFill>
                  <a:srgbClr val="282C2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sistemas de alerta precoce</a:t>
            </a:r>
            <a:r>
              <a:rPr lang="en-US" sz="2059">
                <a:solidFill>
                  <a:srgbClr val="282C2C"/>
                </a:solidFill>
                <a:latin typeface="Calibri (MS)"/>
                <a:ea typeface="Calibri (MS)"/>
                <a:cs typeface="Calibri (MS)"/>
                <a:sym typeface="Calibri (MS)"/>
              </a:rPr>
              <a:t> eficazes para permitir ações preventivas e mitigar danos.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238771"/>
            <a:ext cx="7932912" cy="148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Solução: Sistema Inteligente de Previsão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985566"/>
            <a:ext cx="7932912" cy="8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Um sistema inovador baseado em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 utiliza dados em tempo real para emitir alertas preventivos.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4247630"/>
            <a:ext cx="7932912" cy="1385888"/>
            <a:chOff x="0" y="0"/>
            <a:chExt cx="10577216" cy="1847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77195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4247630"/>
            <a:ext cx="42862" cy="1385888"/>
            <a:chOff x="0" y="0"/>
            <a:chExt cx="57149" cy="18478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4476230"/>
            <a:ext cx="457200" cy="457200"/>
            <a:chOff x="0" y="0"/>
            <a:chExt cx="6096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7400" y="4438130"/>
            <a:ext cx="6789912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Antecedência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7400" y="4700067"/>
            <a:ext cx="6789912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 com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a 6 horas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antecedência antes de eventos de inundação.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6033566"/>
            <a:ext cx="7932912" cy="1085850"/>
            <a:chOff x="0" y="0"/>
            <a:chExt cx="10577216" cy="1447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77195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6033566"/>
            <a:ext cx="42862" cy="1085850"/>
            <a:chOff x="0" y="0"/>
            <a:chExt cx="57149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6262166"/>
            <a:ext cx="457200" cy="457200"/>
            <a:chOff x="0" y="0"/>
            <a:chExt cx="6096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57400" y="6224066"/>
            <a:ext cx="6789912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7400" y="6486005"/>
            <a:ext cx="6789912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Permitir ações preventivas e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reduzir perdas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humanas e materiais.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7519466"/>
            <a:ext cx="7932912" cy="1385888"/>
            <a:chOff x="0" y="0"/>
            <a:chExt cx="10577216" cy="18478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77195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7519466"/>
            <a:ext cx="42862" cy="1385888"/>
            <a:chOff x="0" y="0"/>
            <a:chExt cx="57149" cy="1847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1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7748066"/>
            <a:ext cx="457200" cy="457200"/>
            <a:chOff x="0" y="0"/>
            <a:chExt cx="609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057400" y="7709966"/>
            <a:ext cx="6789912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57400" y="7971905"/>
            <a:ext cx="6789912" cy="69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Modelos preditivos avançados alimentados por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dados meteorológicos e geoespaciais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14874" y="1667988"/>
            <a:ext cx="7796908" cy="6494176"/>
            <a:chOff x="0" y="0"/>
            <a:chExt cx="9664552" cy="80497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64573" cy="8049768"/>
            </a:xfrm>
            <a:custGeom>
              <a:avLst/>
              <a:gdLst/>
              <a:ahLst/>
              <a:cxnLst/>
              <a:rect r="r" b="b" t="t" l="l"/>
              <a:pathLst>
                <a:path h="8049768" w="9664573">
                  <a:moveTo>
                    <a:pt x="24384" y="0"/>
                  </a:moveTo>
                  <a:lnTo>
                    <a:pt x="9640189" y="0"/>
                  </a:lnTo>
                  <a:cubicBezTo>
                    <a:pt x="9653651" y="0"/>
                    <a:pt x="9664573" y="10922"/>
                    <a:pt x="9664573" y="24384"/>
                  </a:cubicBezTo>
                  <a:lnTo>
                    <a:pt x="9664573" y="8025384"/>
                  </a:lnTo>
                  <a:cubicBezTo>
                    <a:pt x="9664573" y="8038846"/>
                    <a:pt x="9653651" y="8049768"/>
                    <a:pt x="9640189" y="8049768"/>
                  </a:cubicBezTo>
                  <a:lnTo>
                    <a:pt x="24384" y="8049768"/>
                  </a:lnTo>
                  <a:cubicBezTo>
                    <a:pt x="10922" y="8049768"/>
                    <a:pt x="0" y="8038846"/>
                    <a:pt x="0" y="8025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8025384"/>
                  </a:lnTo>
                  <a:lnTo>
                    <a:pt x="24384" y="8025384"/>
                  </a:lnTo>
                  <a:lnTo>
                    <a:pt x="24384" y="8001000"/>
                  </a:lnTo>
                  <a:lnTo>
                    <a:pt x="9640189" y="8001000"/>
                  </a:lnTo>
                  <a:lnTo>
                    <a:pt x="9640189" y="8025384"/>
                  </a:lnTo>
                  <a:lnTo>
                    <a:pt x="9615805" y="8025384"/>
                  </a:lnTo>
                  <a:lnTo>
                    <a:pt x="9615805" y="24384"/>
                  </a:lnTo>
                  <a:lnTo>
                    <a:pt x="9640189" y="24384"/>
                  </a:lnTo>
                  <a:lnTo>
                    <a:pt x="9640189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FB3640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914874" y="1667988"/>
            <a:ext cx="7702111" cy="6408692"/>
            <a:chOff x="0" y="0"/>
            <a:chExt cx="9615784" cy="8001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615805" cy="8001000"/>
            </a:xfrm>
            <a:custGeom>
              <a:avLst/>
              <a:gdLst/>
              <a:ahLst/>
              <a:cxnLst/>
              <a:rect r="r" b="b" t="t" l="l"/>
              <a:pathLst>
                <a:path h="8001000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t="0" r="-23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777684" y="2357438"/>
            <a:ext cx="2153004" cy="442912"/>
            <a:chOff x="0" y="0"/>
            <a:chExt cx="2870672" cy="5905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70708" cy="590550"/>
            </a:xfrm>
            <a:custGeom>
              <a:avLst/>
              <a:gdLst/>
              <a:ahLst/>
              <a:cxnLst/>
              <a:rect r="r" b="b" t="t" l="l"/>
              <a:pathLst>
                <a:path h="590550" w="2870708">
                  <a:moveTo>
                    <a:pt x="0" y="0"/>
                  </a:moveTo>
                  <a:lnTo>
                    <a:pt x="2870708" y="0"/>
                  </a:lnTo>
                  <a:lnTo>
                    <a:pt x="287070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896810" y="2377885"/>
            <a:ext cx="1914752" cy="30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b="true" sz="1667" spc="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de Alerta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24712" y="1553338"/>
            <a:ext cx="6683334" cy="7180326"/>
            <a:chOff x="0" y="0"/>
            <a:chExt cx="8911112" cy="9573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11082" cy="9573768"/>
            </a:xfrm>
            <a:custGeom>
              <a:avLst/>
              <a:gdLst/>
              <a:ahLst/>
              <a:cxnLst/>
              <a:rect r="r" b="b" t="t" l="l"/>
              <a:pathLst>
                <a:path h="9573768" w="8911082">
                  <a:moveTo>
                    <a:pt x="24384" y="0"/>
                  </a:moveTo>
                  <a:lnTo>
                    <a:pt x="8886698" y="0"/>
                  </a:lnTo>
                  <a:cubicBezTo>
                    <a:pt x="8900160" y="0"/>
                    <a:pt x="8911082" y="10922"/>
                    <a:pt x="8911082" y="24384"/>
                  </a:cubicBezTo>
                  <a:lnTo>
                    <a:pt x="8911082" y="9549384"/>
                  </a:lnTo>
                  <a:cubicBezTo>
                    <a:pt x="8911082" y="9562846"/>
                    <a:pt x="8900160" y="9573768"/>
                    <a:pt x="8886698" y="9573768"/>
                  </a:cubicBezTo>
                  <a:lnTo>
                    <a:pt x="24384" y="9573768"/>
                  </a:lnTo>
                  <a:cubicBezTo>
                    <a:pt x="10922" y="9573768"/>
                    <a:pt x="0" y="9562846"/>
                    <a:pt x="0" y="9549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9549384"/>
                  </a:lnTo>
                  <a:lnTo>
                    <a:pt x="24384" y="9549384"/>
                  </a:lnTo>
                  <a:lnTo>
                    <a:pt x="24384" y="9525000"/>
                  </a:lnTo>
                  <a:lnTo>
                    <a:pt x="8886698" y="9525000"/>
                  </a:lnTo>
                  <a:lnTo>
                    <a:pt x="8886698" y="9549384"/>
                  </a:lnTo>
                  <a:lnTo>
                    <a:pt x="8862314" y="9549384"/>
                  </a:lnTo>
                  <a:lnTo>
                    <a:pt x="8862314" y="24384"/>
                  </a:lnTo>
                  <a:lnTo>
                    <a:pt x="8886698" y="24384"/>
                  </a:lnTo>
                  <a:lnTo>
                    <a:pt x="8886698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" y="1571626"/>
            <a:ext cx="6646758" cy="7143750"/>
            <a:chOff x="0" y="0"/>
            <a:chExt cx="8862344" cy="9525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862314" cy="9525000"/>
            </a:xfrm>
            <a:custGeom>
              <a:avLst/>
              <a:gdLst/>
              <a:ahLst/>
              <a:cxnLst/>
              <a:rect r="r" b="b" t="t" l="l"/>
              <a:pathLst>
                <a:path h="9525000" w="8862314">
                  <a:moveTo>
                    <a:pt x="0" y="0"/>
                  </a:moveTo>
                  <a:lnTo>
                    <a:pt x="8862314" y="0"/>
                  </a:lnTo>
                  <a:lnTo>
                    <a:pt x="8862314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" t="0" r="-8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312" y="8058150"/>
            <a:ext cx="3275744" cy="442912"/>
            <a:chOff x="0" y="0"/>
            <a:chExt cx="4367659" cy="5905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67657" cy="590550"/>
            </a:xfrm>
            <a:custGeom>
              <a:avLst/>
              <a:gdLst/>
              <a:ahLst/>
              <a:cxnLst/>
              <a:rect r="r" b="b" t="t" l="l"/>
              <a:pathLst>
                <a:path h="590550" w="4367657">
                  <a:moveTo>
                    <a:pt x="0" y="0"/>
                  </a:moveTo>
                  <a:lnTo>
                    <a:pt x="4367657" y="0"/>
                  </a:lnTo>
                  <a:lnTo>
                    <a:pt x="436765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76438" y="8088122"/>
            <a:ext cx="3037492" cy="23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b="true" sz="1367" spc="2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Ciclo de Gestão de Desastres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04132" y="1428751"/>
            <a:ext cx="8640868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Contribuição para os ODS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04132" y="2668860"/>
            <a:ext cx="4206106" cy="1890918"/>
            <a:chOff x="0" y="0"/>
            <a:chExt cx="5608141" cy="25212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193" cy="2521204"/>
            </a:xfrm>
            <a:custGeom>
              <a:avLst/>
              <a:gdLst/>
              <a:ahLst/>
              <a:cxnLst/>
              <a:rect r="r" b="b" t="t" l="l"/>
              <a:pathLst>
                <a:path h="2521204" w="5608193">
                  <a:moveTo>
                    <a:pt x="0" y="0"/>
                  </a:moveTo>
                  <a:lnTo>
                    <a:pt x="5608193" y="0"/>
                  </a:lnTo>
                  <a:lnTo>
                    <a:pt x="5608193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04132" y="2668860"/>
            <a:ext cx="57150" cy="1890918"/>
            <a:chOff x="0" y="0"/>
            <a:chExt cx="76200" cy="25212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2521204"/>
            </a:xfrm>
            <a:custGeom>
              <a:avLst/>
              <a:gdLst/>
              <a:ahLst/>
              <a:cxnLst/>
              <a:rect r="r" b="b" t="t" l="l"/>
              <a:pathLst>
                <a:path h="2521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61308" y="2868886"/>
            <a:ext cx="3691756" cy="2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b="true" sz="1467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ODS 11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61308" y="3236789"/>
            <a:ext cx="3691756" cy="31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Cidades Sustentáveis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1308" y="3640615"/>
            <a:ext cx="3691756" cy="6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Aumenta a </a:t>
            </a:r>
            <a:r>
              <a:rPr lang="en-US" b="true" sz="1548">
                <a:solidFill>
                  <a:srgbClr val="000000">
                    <a:alpha val="94902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resiliência urbana</a:t>
            </a: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 a desastres naturais.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38838" y="2668860"/>
            <a:ext cx="4206162" cy="1890918"/>
            <a:chOff x="0" y="0"/>
            <a:chExt cx="5608216" cy="25212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193" cy="2521204"/>
            </a:xfrm>
            <a:custGeom>
              <a:avLst/>
              <a:gdLst/>
              <a:ahLst/>
              <a:cxnLst/>
              <a:rect r="r" b="b" t="t" l="l"/>
              <a:pathLst>
                <a:path h="2521204" w="5608193">
                  <a:moveTo>
                    <a:pt x="0" y="0"/>
                  </a:moveTo>
                  <a:lnTo>
                    <a:pt x="5608193" y="0"/>
                  </a:lnTo>
                  <a:lnTo>
                    <a:pt x="5608193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FEA82F">
                <a:alpha val="392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38838" y="2668860"/>
            <a:ext cx="57150" cy="1890918"/>
            <a:chOff x="0" y="0"/>
            <a:chExt cx="76200" cy="25212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2521204"/>
            </a:xfrm>
            <a:custGeom>
              <a:avLst/>
              <a:gdLst/>
              <a:ahLst/>
              <a:cxnLst/>
              <a:rect r="r" b="b" t="t" l="l"/>
              <a:pathLst>
                <a:path h="2521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FEA82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96014" y="2868886"/>
            <a:ext cx="3691812" cy="2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b="true" sz="1467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ODS 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96014" y="3236789"/>
            <a:ext cx="3691812" cy="31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Ação Climática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96014" y="3640615"/>
            <a:ext cx="3691812" cy="6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Promove </a:t>
            </a:r>
            <a:r>
              <a:rPr lang="en-US" b="true" sz="1548">
                <a:solidFill>
                  <a:srgbClr val="000000">
                    <a:alpha val="94902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adaptação</a:t>
            </a: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 aos impactos das mudanças climáticas.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04132" y="4788378"/>
            <a:ext cx="4206106" cy="1890918"/>
            <a:chOff x="0" y="0"/>
            <a:chExt cx="5608141" cy="25212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08193" cy="2521204"/>
            </a:xfrm>
            <a:custGeom>
              <a:avLst/>
              <a:gdLst/>
              <a:ahLst/>
              <a:cxnLst/>
              <a:rect r="r" b="b" t="t" l="l"/>
              <a:pathLst>
                <a:path h="2521204" w="5608193">
                  <a:moveTo>
                    <a:pt x="0" y="0"/>
                  </a:moveTo>
                  <a:lnTo>
                    <a:pt x="5608193" y="0"/>
                  </a:lnTo>
                  <a:lnTo>
                    <a:pt x="5608193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201F7C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04132" y="4788378"/>
            <a:ext cx="57150" cy="1890918"/>
            <a:chOff x="0" y="0"/>
            <a:chExt cx="76200" cy="25212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" cy="2521204"/>
            </a:xfrm>
            <a:custGeom>
              <a:avLst/>
              <a:gdLst/>
              <a:ahLst/>
              <a:cxnLst/>
              <a:rect r="r" b="b" t="t" l="l"/>
              <a:pathLst>
                <a:path h="2521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201F7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761308" y="4988402"/>
            <a:ext cx="3691756" cy="2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b="true" sz="1467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ODS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61308" y="5356305"/>
            <a:ext cx="3691756" cy="31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Saúde e Bem-Estar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61308" y="5760133"/>
            <a:ext cx="3691756" cy="6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Previne </a:t>
            </a:r>
            <a:r>
              <a:rPr lang="en-US" b="true" sz="1548">
                <a:solidFill>
                  <a:srgbClr val="000000">
                    <a:alpha val="94902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mortes e doenças</a:t>
            </a: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 relacionadas a enchentes.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938838" y="4788378"/>
            <a:ext cx="4206162" cy="1890918"/>
            <a:chOff x="0" y="0"/>
            <a:chExt cx="5608216" cy="25212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08193" cy="2521204"/>
            </a:xfrm>
            <a:custGeom>
              <a:avLst/>
              <a:gdLst/>
              <a:ahLst/>
              <a:cxnLst/>
              <a:rect r="r" b="b" t="t" l="l"/>
              <a:pathLst>
                <a:path h="2521204" w="5608193">
                  <a:moveTo>
                    <a:pt x="0" y="0"/>
                  </a:moveTo>
                  <a:lnTo>
                    <a:pt x="5608193" y="0"/>
                  </a:lnTo>
                  <a:lnTo>
                    <a:pt x="5608193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938838" y="4788378"/>
            <a:ext cx="57150" cy="1890918"/>
            <a:chOff x="0" y="0"/>
            <a:chExt cx="76200" cy="25212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2521204"/>
            </a:xfrm>
            <a:custGeom>
              <a:avLst/>
              <a:gdLst/>
              <a:ahLst/>
              <a:cxnLst/>
              <a:rect r="r" b="b" t="t" l="l"/>
              <a:pathLst>
                <a:path h="2521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521204"/>
                  </a:lnTo>
                  <a:lnTo>
                    <a:pt x="0" y="2521204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196014" y="4988402"/>
            <a:ext cx="3691812" cy="2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b="true" sz="1467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ODS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96014" y="5356305"/>
            <a:ext cx="3691812" cy="31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Erradicação da Pobreza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96014" y="5760133"/>
            <a:ext cx="3691812" cy="6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Protege </a:t>
            </a:r>
            <a:r>
              <a:rPr lang="en-US" b="true" sz="1548">
                <a:solidFill>
                  <a:srgbClr val="000000">
                    <a:alpha val="94902"/>
                  </a:srgb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famílias vulneráveis</a:t>
            </a:r>
            <a:r>
              <a:rPr lang="en-US" sz="1548">
                <a:solidFill>
                  <a:srgbClr val="000000">
                    <a:alpha val="94902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 em áreas de risco.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71501"/>
            <a:ext cx="16002000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Arquitetura e Tecnologia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506811"/>
            <a:ext cx="16002000" cy="29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b="true" sz="1665" spc="2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Componentes Técnicos da Implementação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24712" y="2307672"/>
            <a:ext cx="7823264" cy="3465576"/>
            <a:chOff x="0" y="0"/>
            <a:chExt cx="10431019" cy="4620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31018" cy="4620768"/>
            </a:xfrm>
            <a:custGeom>
              <a:avLst/>
              <a:gdLst/>
              <a:ahLst/>
              <a:cxnLst/>
              <a:rect r="r" b="b" t="t" l="l"/>
              <a:pathLst>
                <a:path h="4620768" w="10431018">
                  <a:moveTo>
                    <a:pt x="24384" y="0"/>
                  </a:moveTo>
                  <a:lnTo>
                    <a:pt x="10406634" y="0"/>
                  </a:lnTo>
                  <a:cubicBezTo>
                    <a:pt x="10420096" y="0"/>
                    <a:pt x="10431018" y="10922"/>
                    <a:pt x="10431018" y="24384"/>
                  </a:cubicBezTo>
                  <a:lnTo>
                    <a:pt x="10431018" y="4596384"/>
                  </a:lnTo>
                  <a:cubicBezTo>
                    <a:pt x="10431018" y="4609846"/>
                    <a:pt x="10420096" y="4620768"/>
                    <a:pt x="10406634" y="4620768"/>
                  </a:cubicBezTo>
                  <a:lnTo>
                    <a:pt x="24384" y="4620768"/>
                  </a:lnTo>
                  <a:cubicBezTo>
                    <a:pt x="10922" y="4620768"/>
                    <a:pt x="0" y="4609846"/>
                    <a:pt x="0" y="4596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4596384"/>
                  </a:lnTo>
                  <a:lnTo>
                    <a:pt x="24384" y="4596384"/>
                  </a:lnTo>
                  <a:lnTo>
                    <a:pt x="24384" y="4572000"/>
                  </a:lnTo>
                  <a:lnTo>
                    <a:pt x="10406634" y="4572000"/>
                  </a:lnTo>
                  <a:lnTo>
                    <a:pt x="10406634" y="4596384"/>
                  </a:lnTo>
                  <a:lnTo>
                    <a:pt x="10382250" y="4596384"/>
                  </a:lnTo>
                  <a:lnTo>
                    <a:pt x="10382250" y="24384"/>
                  </a:lnTo>
                  <a:lnTo>
                    <a:pt x="10406634" y="24384"/>
                  </a:lnTo>
                  <a:lnTo>
                    <a:pt x="10406634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" y="2325960"/>
            <a:ext cx="7786688" cy="3429000"/>
            <a:chOff x="0" y="0"/>
            <a:chExt cx="10382251" cy="4572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38225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382250">
                  <a:moveTo>
                    <a:pt x="0" y="0"/>
                  </a:moveTo>
                  <a:lnTo>
                    <a:pt x="10382250" y="0"/>
                  </a:lnTo>
                  <a:lnTo>
                    <a:pt x="1038225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" r="0" b="-20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40024" y="2307672"/>
            <a:ext cx="7823264" cy="3465576"/>
            <a:chOff x="0" y="0"/>
            <a:chExt cx="10431019" cy="46207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1018" cy="4620768"/>
            </a:xfrm>
            <a:custGeom>
              <a:avLst/>
              <a:gdLst/>
              <a:ahLst/>
              <a:cxnLst/>
              <a:rect r="r" b="b" t="t" l="l"/>
              <a:pathLst>
                <a:path h="4620768" w="10431018">
                  <a:moveTo>
                    <a:pt x="24384" y="0"/>
                  </a:moveTo>
                  <a:lnTo>
                    <a:pt x="10406634" y="0"/>
                  </a:lnTo>
                  <a:cubicBezTo>
                    <a:pt x="10420096" y="0"/>
                    <a:pt x="10431018" y="10922"/>
                    <a:pt x="10431018" y="24384"/>
                  </a:cubicBezTo>
                  <a:lnTo>
                    <a:pt x="10431018" y="4596384"/>
                  </a:lnTo>
                  <a:cubicBezTo>
                    <a:pt x="10431018" y="4609846"/>
                    <a:pt x="10420096" y="4620768"/>
                    <a:pt x="10406634" y="4620768"/>
                  </a:cubicBezTo>
                  <a:lnTo>
                    <a:pt x="24384" y="4620768"/>
                  </a:lnTo>
                  <a:cubicBezTo>
                    <a:pt x="10922" y="4620768"/>
                    <a:pt x="0" y="4609846"/>
                    <a:pt x="0" y="4596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4596384"/>
                  </a:lnTo>
                  <a:lnTo>
                    <a:pt x="24384" y="4596384"/>
                  </a:lnTo>
                  <a:lnTo>
                    <a:pt x="24384" y="4572000"/>
                  </a:lnTo>
                  <a:lnTo>
                    <a:pt x="10406634" y="4572000"/>
                  </a:lnTo>
                  <a:lnTo>
                    <a:pt x="10406634" y="4596384"/>
                  </a:lnTo>
                  <a:lnTo>
                    <a:pt x="10382250" y="4596384"/>
                  </a:lnTo>
                  <a:lnTo>
                    <a:pt x="10382250" y="24384"/>
                  </a:lnTo>
                  <a:lnTo>
                    <a:pt x="10406634" y="24384"/>
                  </a:lnTo>
                  <a:lnTo>
                    <a:pt x="10406634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358312" y="2325960"/>
            <a:ext cx="7786688" cy="3429000"/>
            <a:chOff x="0" y="0"/>
            <a:chExt cx="10382251" cy="4572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38225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382250">
                  <a:moveTo>
                    <a:pt x="0" y="0"/>
                  </a:moveTo>
                  <a:lnTo>
                    <a:pt x="10382250" y="0"/>
                  </a:lnTo>
                  <a:lnTo>
                    <a:pt x="1038225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8" r="0" b="-20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6197872"/>
            <a:ext cx="7715250" cy="36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b="true" sz="1568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Modelo de Machine Learning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6794376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6794376"/>
            <a:ext cx="342900" cy="342900"/>
            <a:chOff x="0" y="0"/>
            <a:chExt cx="457200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57350" y="6689601"/>
            <a:ext cx="4945708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Algoritmo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classificação de risco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3000" y="7308726"/>
            <a:ext cx="342900" cy="342900"/>
            <a:chOff x="0" y="0"/>
            <a:chExt cx="45720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EA82F">
                <a:alpha val="392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43000" y="7308726"/>
            <a:ext cx="342900" cy="342900"/>
            <a:chOff x="0" y="0"/>
            <a:chExt cx="45720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201F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57350" y="7203951"/>
            <a:ext cx="4796080" cy="33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15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Modelos treinados em </a:t>
            </a: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dados históricos e realistas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7823076"/>
            <a:ext cx="342900" cy="342900"/>
            <a:chOff x="0" y="0"/>
            <a:chExt cx="45720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000" y="7823076"/>
            <a:ext cx="342900" cy="342900"/>
            <a:chOff x="0" y="0"/>
            <a:chExt cx="45720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57350" y="7718301"/>
            <a:ext cx="3902776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Integração com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otimização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6197872"/>
            <a:ext cx="7715250" cy="36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b="true" sz="1568" spc="2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 Tecnológico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29750" y="6794376"/>
            <a:ext cx="342900" cy="342900"/>
            <a:chOff x="0" y="0"/>
            <a:chExt cx="457200" cy="457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29750" y="6794376"/>
            <a:ext cx="342900" cy="342900"/>
            <a:chOff x="0" y="0"/>
            <a:chExt cx="4572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◆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944100" y="6689601"/>
            <a:ext cx="3199060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como linguagem principal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429750" y="7308726"/>
            <a:ext cx="342900" cy="342900"/>
            <a:chOff x="0" y="0"/>
            <a:chExt cx="45720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EA82F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29750" y="7308726"/>
            <a:ext cx="342900" cy="342900"/>
            <a:chOff x="0" y="0"/>
            <a:chExt cx="45720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201F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◆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944100" y="7203951"/>
            <a:ext cx="3646270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Streamlit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interface web interativa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29750" y="7823076"/>
            <a:ext cx="342900" cy="342900"/>
            <a:chOff x="0" y="0"/>
            <a:chExt cx="4572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BCEAC">
                <a:alpha val="3922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29750" y="7823076"/>
            <a:ext cx="342900" cy="342900"/>
            <a:chOff x="0" y="0"/>
            <a:chExt cx="45720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45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0"/>
                </a:lnSpc>
              </a:pPr>
              <a:r>
                <a:rPr lang="en-US" b="true" sz="1168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◆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944100" y="7718301"/>
            <a:ext cx="4709238" cy="33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b="true" sz="15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Pandas, NumPy, Scikit-learn</a:t>
            </a:r>
            <a:r>
              <a:rPr lang="en-US" sz="15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processamento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24712" y="2267712"/>
            <a:ext cx="7969488" cy="5751576"/>
            <a:chOff x="0" y="0"/>
            <a:chExt cx="10625984" cy="766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25963" cy="7668768"/>
            </a:xfrm>
            <a:custGeom>
              <a:avLst/>
              <a:gdLst/>
              <a:ahLst/>
              <a:cxnLst/>
              <a:rect r="r" b="b" t="t" l="l"/>
              <a:pathLst>
                <a:path h="7668768" w="10625963">
                  <a:moveTo>
                    <a:pt x="24384" y="0"/>
                  </a:moveTo>
                  <a:lnTo>
                    <a:pt x="10601579" y="0"/>
                  </a:lnTo>
                  <a:cubicBezTo>
                    <a:pt x="10615041" y="0"/>
                    <a:pt x="10625963" y="10922"/>
                    <a:pt x="10625963" y="24384"/>
                  </a:cubicBezTo>
                  <a:lnTo>
                    <a:pt x="10625963" y="7644384"/>
                  </a:lnTo>
                  <a:cubicBezTo>
                    <a:pt x="10625963" y="7657846"/>
                    <a:pt x="10615041" y="7668768"/>
                    <a:pt x="10601579" y="7668768"/>
                  </a:cubicBezTo>
                  <a:lnTo>
                    <a:pt x="24384" y="7668768"/>
                  </a:lnTo>
                  <a:cubicBezTo>
                    <a:pt x="10922" y="7668768"/>
                    <a:pt x="0" y="7657846"/>
                    <a:pt x="0" y="7644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7644384"/>
                  </a:lnTo>
                  <a:lnTo>
                    <a:pt x="24384" y="7644384"/>
                  </a:lnTo>
                  <a:lnTo>
                    <a:pt x="24384" y="7620000"/>
                  </a:lnTo>
                  <a:lnTo>
                    <a:pt x="10601579" y="7620000"/>
                  </a:lnTo>
                  <a:lnTo>
                    <a:pt x="10601579" y="7644384"/>
                  </a:lnTo>
                  <a:lnTo>
                    <a:pt x="10577195" y="7644384"/>
                  </a:lnTo>
                  <a:lnTo>
                    <a:pt x="10577195" y="24384"/>
                  </a:lnTo>
                  <a:lnTo>
                    <a:pt x="10601579" y="24384"/>
                  </a:lnTo>
                  <a:lnTo>
                    <a:pt x="10601579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33162" y="3640076"/>
            <a:ext cx="7211838" cy="1085850"/>
            <a:chOff x="0" y="0"/>
            <a:chExt cx="9615784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15805" cy="1447800"/>
            </a:xfrm>
            <a:custGeom>
              <a:avLst/>
              <a:gdLst/>
              <a:ahLst/>
              <a:cxnLst/>
              <a:rect r="r" b="b" t="t" l="l"/>
              <a:pathLst>
                <a:path h="1447800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FEA82F">
                <a:alpha val="39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33162" y="3640076"/>
            <a:ext cx="42862" cy="1085850"/>
            <a:chOff x="0" y="0"/>
            <a:chExt cx="57149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61762" y="3868676"/>
            <a:ext cx="457200" cy="457200"/>
            <a:chOff x="0" y="0"/>
            <a:chExt cx="6096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61762" y="3868676"/>
            <a:ext cx="457200" cy="457200"/>
            <a:chOff x="0" y="0"/>
            <a:chExt cx="6096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00"/>
                </a:lnSpc>
              </a:pPr>
              <a:r>
                <a:rPr lang="en-US" sz="1568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📁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33162" y="5125976"/>
            <a:ext cx="7211838" cy="1385888"/>
            <a:chOff x="0" y="0"/>
            <a:chExt cx="9615784" cy="1847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15805" cy="1847850"/>
            </a:xfrm>
            <a:custGeom>
              <a:avLst/>
              <a:gdLst/>
              <a:ahLst/>
              <a:cxnLst/>
              <a:rect r="r" b="b" t="t" l="l"/>
              <a:pathLst>
                <a:path h="1847850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EA82F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33162" y="5125976"/>
            <a:ext cx="42862" cy="1385888"/>
            <a:chOff x="0" y="0"/>
            <a:chExt cx="57149" cy="18478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61762" y="5354576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61762" y="5354576"/>
            <a:ext cx="457200" cy="457200"/>
            <a:chOff x="0" y="0"/>
            <a:chExt cx="609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00"/>
                </a:lnSpc>
              </a:pPr>
              <a:r>
                <a:rPr lang="en-US" sz="1568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33162" y="6911912"/>
            <a:ext cx="7211838" cy="1932384"/>
            <a:chOff x="0" y="0"/>
            <a:chExt cx="9615784" cy="25765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15805" cy="2576449"/>
            </a:xfrm>
            <a:custGeom>
              <a:avLst/>
              <a:gdLst/>
              <a:ahLst/>
              <a:cxnLst/>
              <a:rect r="r" b="b" t="t" l="l"/>
              <a:pathLst>
                <a:path h="2576449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2576449"/>
                  </a:lnTo>
                  <a:lnTo>
                    <a:pt x="0" y="2576449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33162" y="6911912"/>
            <a:ext cx="42862" cy="1932384"/>
            <a:chOff x="0" y="0"/>
            <a:chExt cx="57149" cy="25765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2576449"/>
            </a:xfrm>
            <a:custGeom>
              <a:avLst/>
              <a:gdLst/>
              <a:ahLst/>
              <a:cxnLst/>
              <a:rect r="r" b="b" t="t" l="l"/>
              <a:pathLst>
                <a:path h="2576449" w="57150">
                  <a:moveTo>
                    <a:pt x="0" y="0"/>
                  </a:moveTo>
                  <a:lnTo>
                    <a:pt x="57150" y="0"/>
                  </a:lnTo>
                  <a:lnTo>
                    <a:pt x="57150" y="2576449"/>
                  </a:lnTo>
                  <a:lnTo>
                    <a:pt x="0" y="2576449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357312" y="3156221"/>
            <a:ext cx="2241164" cy="3984291"/>
          </a:xfrm>
          <a:custGeom>
            <a:avLst/>
            <a:gdLst/>
            <a:ahLst/>
            <a:cxnLst/>
            <a:rect r="r" b="b" t="t" l="l"/>
            <a:pathLst>
              <a:path h="3984291" w="2241164">
                <a:moveTo>
                  <a:pt x="0" y="0"/>
                </a:moveTo>
                <a:lnTo>
                  <a:pt x="2241164" y="0"/>
                </a:lnTo>
                <a:lnTo>
                  <a:pt x="2241164" y="3984291"/>
                </a:lnTo>
                <a:lnTo>
                  <a:pt x="0" y="3984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981949" y="3156221"/>
            <a:ext cx="2255015" cy="4008915"/>
          </a:xfrm>
          <a:custGeom>
            <a:avLst/>
            <a:gdLst/>
            <a:ahLst/>
            <a:cxnLst/>
            <a:rect r="r" b="b" t="t" l="l"/>
            <a:pathLst>
              <a:path h="4008915" w="2255015">
                <a:moveTo>
                  <a:pt x="0" y="0"/>
                </a:moveTo>
                <a:lnTo>
                  <a:pt x="2255014" y="0"/>
                </a:lnTo>
                <a:lnTo>
                  <a:pt x="2255014" y="4008915"/>
                </a:lnTo>
                <a:lnTo>
                  <a:pt x="0" y="400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459754" y="3150315"/>
            <a:ext cx="2247808" cy="3996103"/>
          </a:xfrm>
          <a:custGeom>
            <a:avLst/>
            <a:gdLst/>
            <a:ahLst/>
            <a:cxnLst/>
            <a:rect r="r" b="b" t="t" l="l"/>
            <a:pathLst>
              <a:path h="3996103" w="2247808">
                <a:moveTo>
                  <a:pt x="0" y="0"/>
                </a:moveTo>
                <a:lnTo>
                  <a:pt x="2247808" y="0"/>
                </a:lnTo>
                <a:lnTo>
                  <a:pt x="2247808" y="3996103"/>
                </a:lnTo>
                <a:lnTo>
                  <a:pt x="0" y="3996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933162" y="1299827"/>
            <a:ext cx="7211838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Interface do Utilizador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33162" y="2349437"/>
            <a:ext cx="7211838" cy="8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9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Aplicação web interativa desenvolvida em </a:t>
            </a:r>
            <a:r>
              <a:rPr lang="en-US" b="true" sz="19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Streamlit</a:t>
            </a:r>
            <a:r>
              <a:rPr lang="en-US" sz="19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 permite aos utilizadores interagir com o modelo de previsão em tempo real.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47562" y="3830576"/>
            <a:ext cx="6068838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Ficheiro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47562" y="4092513"/>
            <a:ext cx="6068838" cy="35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appUI.py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Implementação da interface gráfica funcional.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47562" y="5316476"/>
            <a:ext cx="6068838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Funcionalidade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47562" y="5578413"/>
            <a:ext cx="6068838" cy="69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Entrada de dados (província, precipitação, etc.) para gerar </a:t>
            </a: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probabilidade de inundação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em tempo real.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61762" y="7083362"/>
            <a:ext cx="6754638" cy="27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b="true" sz="1467" spc="2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 Tecnológico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61762" y="7477460"/>
            <a:ext cx="6754638" cy="2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- Interface web rápida e acessível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61762" y="7891798"/>
            <a:ext cx="6754638" cy="2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- Backend de processamento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61762" y="8306134"/>
            <a:ext cx="6754638" cy="2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Modelos ML - Previsão inteligente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98062" y="4991786"/>
            <a:ext cx="491877" cy="25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36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 min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964463"/>
            <a:ext cx="7932912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Passos e Futuro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04572"/>
            <a:ext cx="7932912" cy="30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b="true" sz="1667" spc="5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Estado Atual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2608194"/>
            <a:ext cx="7932912" cy="1085850"/>
            <a:chOff x="0" y="0"/>
            <a:chExt cx="10577216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77195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>
                <a:alpha val="39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608194"/>
            <a:ext cx="42862" cy="1085850"/>
            <a:chOff x="0" y="0"/>
            <a:chExt cx="57149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2126" y="2593970"/>
            <a:ext cx="7694660" cy="40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treinado e interface funcional com capacidade de previsão operacional.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4132195"/>
            <a:ext cx="7932912" cy="24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b="true" sz="1368" spc="4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Passos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4554866"/>
            <a:ext cx="457200" cy="457200"/>
            <a:chOff x="0" y="0"/>
            <a:chExt cx="6096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0" y="4554866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00226" y="4488192"/>
            <a:ext cx="7275686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Integração com Dados em Tempo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0226" y="4750129"/>
            <a:ext cx="7275686" cy="33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Conectar APIs meteorológicas e hidrológicas para alimentação contínua do modelo.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000" y="5669292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" y="5669292"/>
            <a:ext cx="457200" cy="457200"/>
            <a:chOff x="0" y="0"/>
            <a:chExt cx="609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00226" y="5602616"/>
            <a:ext cx="7275686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Validação e Testes em Campo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0226" y="5864553"/>
            <a:ext cx="7275686" cy="33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 autoridades locais e comunidades para validar precisão e eficácia.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6783716"/>
            <a:ext cx="457200" cy="457200"/>
            <a:chOff x="0" y="0"/>
            <a:chExt cx="609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EA82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43000" y="6783716"/>
            <a:ext cx="457200" cy="457200"/>
            <a:chOff x="0" y="0"/>
            <a:chExt cx="6096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09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365" b="true">
                  <a:solidFill>
                    <a:srgbClr val="0A24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00226" y="6717042"/>
            <a:ext cx="7275686" cy="2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66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Expansão Geográfica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0226" y="6978979"/>
            <a:ext cx="7275686" cy="33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54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Replicação do sistema para outras províncias de Angola com risco de inundação.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3000" y="7819560"/>
            <a:ext cx="7932912" cy="1360104"/>
            <a:chOff x="0" y="0"/>
            <a:chExt cx="10577216" cy="18134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77195" cy="1813433"/>
            </a:xfrm>
            <a:custGeom>
              <a:avLst/>
              <a:gdLst/>
              <a:ahLst/>
              <a:cxnLst/>
              <a:rect r="r" b="b" t="t" l="l"/>
              <a:pathLst>
                <a:path h="1813433" w="10577195">
                  <a:moveTo>
                    <a:pt x="0" y="0"/>
                  </a:moveTo>
                  <a:lnTo>
                    <a:pt x="10577195" y="0"/>
                  </a:lnTo>
                  <a:lnTo>
                    <a:pt x="10577195" y="1813433"/>
                  </a:lnTo>
                  <a:lnTo>
                    <a:pt x="0" y="1813433"/>
                  </a:lnTo>
                  <a:close/>
                </a:path>
              </a:pathLst>
            </a:custGeom>
            <a:solidFill>
              <a:srgbClr val="201F7C">
                <a:alpha val="39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43000" y="7819560"/>
            <a:ext cx="42862" cy="1360104"/>
            <a:chOff x="0" y="0"/>
            <a:chExt cx="57149" cy="18134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150" cy="1813433"/>
            </a:xfrm>
            <a:custGeom>
              <a:avLst/>
              <a:gdLst/>
              <a:ahLst/>
              <a:cxnLst/>
              <a:rect r="r" b="b" t="t" l="l"/>
              <a:pathLst>
                <a:path h="1813433" w="57150">
                  <a:moveTo>
                    <a:pt x="0" y="0"/>
                  </a:moveTo>
                  <a:lnTo>
                    <a:pt x="57150" y="0"/>
                  </a:lnTo>
                  <a:lnTo>
                    <a:pt x="57150" y="1813433"/>
                  </a:lnTo>
                  <a:lnTo>
                    <a:pt x="0" y="1813433"/>
                  </a:lnTo>
                  <a:close/>
                </a:path>
              </a:pathLst>
            </a:custGeom>
            <a:solidFill>
              <a:srgbClr val="201F7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62126" y="7814861"/>
            <a:ext cx="7694660" cy="7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b="true" sz="165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Visão:</a:t>
            </a:r>
            <a:r>
              <a:rPr lang="en-US" sz="165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Transformar a previsão de inundações em Angola através de tecnologia acessível, salvando vidas e protegendo o património das comunidades vulneráveis.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14874" y="2124838"/>
            <a:ext cx="7248414" cy="6037326"/>
            <a:chOff x="0" y="0"/>
            <a:chExt cx="9664552" cy="80497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64573" cy="8049768"/>
            </a:xfrm>
            <a:custGeom>
              <a:avLst/>
              <a:gdLst/>
              <a:ahLst/>
              <a:cxnLst/>
              <a:rect r="r" b="b" t="t" l="l"/>
              <a:pathLst>
                <a:path h="8049768" w="9664573">
                  <a:moveTo>
                    <a:pt x="24384" y="0"/>
                  </a:moveTo>
                  <a:lnTo>
                    <a:pt x="9640189" y="0"/>
                  </a:lnTo>
                  <a:cubicBezTo>
                    <a:pt x="9653651" y="0"/>
                    <a:pt x="9664573" y="10922"/>
                    <a:pt x="9664573" y="24384"/>
                  </a:cubicBezTo>
                  <a:lnTo>
                    <a:pt x="9664573" y="8025384"/>
                  </a:lnTo>
                  <a:cubicBezTo>
                    <a:pt x="9664573" y="8038846"/>
                    <a:pt x="9653651" y="8049768"/>
                    <a:pt x="9640189" y="8049768"/>
                  </a:cubicBezTo>
                  <a:lnTo>
                    <a:pt x="24384" y="8049768"/>
                  </a:lnTo>
                  <a:cubicBezTo>
                    <a:pt x="10922" y="8049768"/>
                    <a:pt x="0" y="8038846"/>
                    <a:pt x="0" y="8025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8025384"/>
                  </a:lnTo>
                  <a:lnTo>
                    <a:pt x="24384" y="8025384"/>
                  </a:lnTo>
                  <a:lnTo>
                    <a:pt x="24384" y="8001000"/>
                  </a:lnTo>
                  <a:lnTo>
                    <a:pt x="9640189" y="8001000"/>
                  </a:lnTo>
                  <a:lnTo>
                    <a:pt x="9640189" y="8025384"/>
                  </a:lnTo>
                  <a:lnTo>
                    <a:pt x="9615805" y="8025384"/>
                  </a:lnTo>
                  <a:lnTo>
                    <a:pt x="9615805" y="24384"/>
                  </a:lnTo>
                  <a:lnTo>
                    <a:pt x="9640189" y="24384"/>
                  </a:lnTo>
                  <a:lnTo>
                    <a:pt x="9640189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9933162" y="2143126"/>
            <a:ext cx="7211838" cy="6000750"/>
            <a:chOff x="0" y="0"/>
            <a:chExt cx="9615784" cy="80010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615805" cy="8001000"/>
            </a:xfrm>
            <a:custGeom>
              <a:avLst/>
              <a:gdLst/>
              <a:ahLst/>
              <a:cxnLst/>
              <a:rect r="r" b="b" t="t" l="l"/>
              <a:pathLst>
                <a:path h="8001000" w="9615805">
                  <a:moveTo>
                    <a:pt x="0" y="0"/>
                  </a:moveTo>
                  <a:lnTo>
                    <a:pt x="9615805" y="0"/>
                  </a:lnTo>
                  <a:lnTo>
                    <a:pt x="9615805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t="0" r="-23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147474" y="7486650"/>
            <a:ext cx="2311058" cy="442912"/>
            <a:chOff x="0" y="0"/>
            <a:chExt cx="3081411" cy="5905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81401" cy="590550"/>
            </a:xfrm>
            <a:custGeom>
              <a:avLst/>
              <a:gdLst/>
              <a:ahLst/>
              <a:cxnLst/>
              <a:rect r="r" b="b" t="t" l="l"/>
              <a:pathLst>
                <a:path h="590550" w="3081401">
                  <a:moveTo>
                    <a:pt x="0" y="0"/>
                  </a:moveTo>
                  <a:lnTo>
                    <a:pt x="3081401" y="0"/>
                  </a:lnTo>
                  <a:lnTo>
                    <a:pt x="3081401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266600" y="7516622"/>
            <a:ext cx="2072806" cy="23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b="true" sz="1367" spc="2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Resiliência Urbana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F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24712" y="1766534"/>
            <a:ext cx="7680388" cy="5465826"/>
            <a:chOff x="0" y="0"/>
            <a:chExt cx="10240517" cy="7287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0518" cy="7287768"/>
            </a:xfrm>
            <a:custGeom>
              <a:avLst/>
              <a:gdLst/>
              <a:ahLst/>
              <a:cxnLst/>
              <a:rect r="r" b="b" t="t" l="l"/>
              <a:pathLst>
                <a:path h="7287768" w="10240518">
                  <a:moveTo>
                    <a:pt x="24384" y="0"/>
                  </a:moveTo>
                  <a:lnTo>
                    <a:pt x="10216134" y="0"/>
                  </a:lnTo>
                  <a:cubicBezTo>
                    <a:pt x="10229596" y="0"/>
                    <a:pt x="10240518" y="10922"/>
                    <a:pt x="10240518" y="24384"/>
                  </a:cubicBezTo>
                  <a:lnTo>
                    <a:pt x="10240518" y="7263384"/>
                  </a:lnTo>
                  <a:cubicBezTo>
                    <a:pt x="10240518" y="7276846"/>
                    <a:pt x="10229596" y="7287768"/>
                    <a:pt x="10216134" y="7287768"/>
                  </a:cubicBezTo>
                  <a:lnTo>
                    <a:pt x="24384" y="7287768"/>
                  </a:lnTo>
                  <a:cubicBezTo>
                    <a:pt x="10922" y="7287768"/>
                    <a:pt x="0" y="7276846"/>
                    <a:pt x="0" y="7263384"/>
                  </a:cubicBezTo>
                  <a:lnTo>
                    <a:pt x="0" y="24384"/>
                  </a:lnTo>
                  <a:cubicBezTo>
                    <a:pt x="0" y="10922"/>
                    <a:pt x="10922" y="0"/>
                    <a:pt x="24384" y="0"/>
                  </a:cubicBezTo>
                  <a:moveTo>
                    <a:pt x="24384" y="48768"/>
                  </a:moveTo>
                  <a:lnTo>
                    <a:pt x="24384" y="24384"/>
                  </a:lnTo>
                  <a:lnTo>
                    <a:pt x="48768" y="24384"/>
                  </a:lnTo>
                  <a:lnTo>
                    <a:pt x="48768" y="7263384"/>
                  </a:lnTo>
                  <a:lnTo>
                    <a:pt x="24384" y="7263384"/>
                  </a:lnTo>
                  <a:lnTo>
                    <a:pt x="24384" y="7239000"/>
                  </a:lnTo>
                  <a:lnTo>
                    <a:pt x="10216134" y="7239000"/>
                  </a:lnTo>
                  <a:lnTo>
                    <a:pt x="10216134" y="7263384"/>
                  </a:lnTo>
                  <a:lnTo>
                    <a:pt x="10191750" y="7263384"/>
                  </a:lnTo>
                  <a:lnTo>
                    <a:pt x="10191750" y="24384"/>
                  </a:lnTo>
                  <a:lnTo>
                    <a:pt x="10216134" y="24384"/>
                  </a:lnTo>
                  <a:lnTo>
                    <a:pt x="10216134" y="48768"/>
                  </a:lnTo>
                  <a:lnTo>
                    <a:pt x="24384" y="48768"/>
                  </a:lnTo>
                  <a:close/>
                </a:path>
              </a:pathLst>
            </a:custGeom>
            <a:solidFill>
              <a:srgbClr val="3BCEAC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" y="1784822"/>
            <a:ext cx="7643812" cy="5429250"/>
            <a:chOff x="0" y="0"/>
            <a:chExt cx="10191749" cy="7239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1917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" r="0" b="-1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312" y="6556846"/>
            <a:ext cx="3121930" cy="442912"/>
            <a:chOff x="0" y="0"/>
            <a:chExt cx="4162573" cy="5905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62552" cy="590550"/>
            </a:xfrm>
            <a:custGeom>
              <a:avLst/>
              <a:gdLst/>
              <a:ahLst/>
              <a:cxnLst/>
              <a:rect r="r" b="b" t="t" l="l"/>
              <a:pathLst>
                <a:path h="590550" w="4162552">
                  <a:moveTo>
                    <a:pt x="0" y="0"/>
                  </a:moveTo>
                  <a:lnTo>
                    <a:pt x="4162552" y="0"/>
                  </a:lnTo>
                  <a:lnTo>
                    <a:pt x="416255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201F7C">
                <a:alpha val="80784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76438" y="6586818"/>
            <a:ext cx="2883678" cy="22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b="true" sz="1267" spc="2">
                <a:solidFill>
                  <a:srgbClr val="FDF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Previsão Baseada em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1188" y="571501"/>
            <a:ext cx="7643812" cy="81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616" b="true">
                <a:solidFill>
                  <a:srgbClr val="FB36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1188" y="1659211"/>
            <a:ext cx="7643812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1770">
                <a:solidFill>
                  <a:srgbClr val="0A24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Protegendo Vidas Através da Inovação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1188" y="2285480"/>
            <a:ext cx="7643812" cy="8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Este projeto representa um passo crucial na utilização da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tecnologia inteligente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salvar vidas e proteger o património em Angola.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01188" y="3490392"/>
            <a:ext cx="7643812" cy="1485900"/>
            <a:chOff x="0" y="0"/>
            <a:chExt cx="10191749" cy="198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917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FEA82F">
                <a:alpha val="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01188" y="3490392"/>
            <a:ext cx="42862" cy="1485900"/>
            <a:chOff x="0" y="0"/>
            <a:chExt cx="57149" cy="198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7150">
                  <a:moveTo>
                    <a:pt x="0" y="0"/>
                  </a:moveTo>
                  <a:lnTo>
                    <a:pt x="57150" y="0"/>
                  </a:lnTo>
                  <a:lnTo>
                    <a:pt x="5715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FEA82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37205" y="3493059"/>
            <a:ext cx="7371778" cy="120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 alertas de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a 6 horas de antecedência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comunidades vulneráveis ganham tempo precioso para se prepararem e protegerem-se de inundações devastadoras.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1188" y="5185842"/>
            <a:ext cx="7643812" cy="80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demonstra como </a:t>
            </a:r>
            <a:r>
              <a:rPr lang="en-US" b="true" sz="175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  <a:r>
              <a:rPr lang="en-US" sz="175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dados geoespaciais podem ser aplicados para resolver problemas reais e urgentes nas cidades africanas.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1188" y="7164660"/>
            <a:ext cx="7643812" cy="40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167" spc="3">
                <a:solidFill>
                  <a:srgbClr val="201F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Saiba Mais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1188" y="7473033"/>
            <a:ext cx="7643812" cy="69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13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Repositório GitHub:</a:t>
            </a:r>
          </a:p>
          <a:p>
            <a:pPr algn="l">
              <a:lnSpc>
                <a:spcPts val="2805"/>
              </a:lnSpc>
            </a:pPr>
            <a:r>
              <a:rPr lang="en-US" b="true" sz="13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github.com/Laurinda-Carlos/alerta-inundacao-angola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DAG4gFWXnUg</dc:identifier>
  <dcterms:modified xsi:type="dcterms:W3CDTF">2011-08-01T06:04:30Z</dcterms:modified>
  <cp:revision>1</cp:revision>
  <dc:title>Alerta_Inundação_Angola_Sistema_Inteligente_de_Previsão_de_Inundações.pptx</dc:title>
</cp:coreProperties>
</file>