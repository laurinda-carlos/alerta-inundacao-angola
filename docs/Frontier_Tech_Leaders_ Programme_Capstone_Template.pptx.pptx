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Merriweather Sans Bold" charset="1" panose="00000800000000000000"/>
      <p:regular r:id="rId24"/>
    </p:embeddedFont>
    <p:embeddedFont>
      <p:font typeface="Calibri (MS) Bold" charset="1" panose="020F0702030404030204"/>
      <p:regular r:id="rId25"/>
    </p:embeddedFont>
    <p:embeddedFont>
      <p:font typeface="Calibri (MS)" charset="1" panose="020F050202020403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Masters/notesMaster1.xml" Type="http://schemas.openxmlformats.org/officeDocument/2006/relationships/notesMaster"/><Relationship Id="rId28" Target="theme/theme2.xml" Type="http://schemas.openxmlformats.org/officeDocument/2006/relationships/theme"/><Relationship Id="rId29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4478" y="2009620"/>
            <a:ext cx="18338954" cy="8300526"/>
            <a:chOff x="0" y="0"/>
            <a:chExt cx="24451938" cy="11067368"/>
          </a:xfrm>
        </p:grpSpPr>
        <p:sp>
          <p:nvSpPr>
            <p:cNvPr name="Freeform 3" id="3" descr="A person sitting at a desk using a computer  Description automatically generated"/>
            <p:cNvSpPr/>
            <p:nvPr/>
          </p:nvSpPr>
          <p:spPr>
            <a:xfrm flipH="false" flipV="false" rot="0">
              <a:off x="0" y="0"/>
              <a:ext cx="24451945" cy="11067415"/>
            </a:xfrm>
            <a:custGeom>
              <a:avLst/>
              <a:gdLst/>
              <a:ahLst/>
              <a:cxnLst/>
              <a:rect r="r" b="b" t="t" l="l"/>
              <a:pathLst>
                <a:path h="11067415" w="24451945">
                  <a:moveTo>
                    <a:pt x="0" y="0"/>
                  </a:moveTo>
                  <a:lnTo>
                    <a:pt x="24451945" y="0"/>
                  </a:lnTo>
                  <a:lnTo>
                    <a:pt x="24451945" y="11067415"/>
                  </a:lnTo>
                  <a:lnTo>
                    <a:pt x="0" y="11067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9" t="-195" r="-6250" b="-5634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7176" y="2000096"/>
            <a:ext cx="18324700" cy="8321702"/>
            <a:chOff x="0" y="0"/>
            <a:chExt cx="24432934" cy="110956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00" y="12700"/>
              <a:ext cx="24407495" cy="11070209"/>
            </a:xfrm>
            <a:custGeom>
              <a:avLst/>
              <a:gdLst/>
              <a:ahLst/>
              <a:cxnLst/>
              <a:rect r="r" b="b" t="t" l="l"/>
              <a:pathLst>
                <a:path h="11070209" w="24407495">
                  <a:moveTo>
                    <a:pt x="0" y="0"/>
                  </a:moveTo>
                  <a:lnTo>
                    <a:pt x="24407495" y="0"/>
                  </a:lnTo>
                  <a:lnTo>
                    <a:pt x="24407495" y="11070209"/>
                  </a:lnTo>
                  <a:lnTo>
                    <a:pt x="0" y="11070209"/>
                  </a:lnTo>
                  <a:close/>
                </a:path>
              </a:pathLst>
            </a:custGeom>
            <a:solidFill>
              <a:srgbClr val="4617D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32895" cy="11095609"/>
            </a:xfrm>
            <a:custGeom>
              <a:avLst/>
              <a:gdLst/>
              <a:ahLst/>
              <a:cxnLst/>
              <a:rect r="r" b="b" t="t" l="l"/>
              <a:pathLst>
                <a:path h="11095609" w="24432895">
                  <a:moveTo>
                    <a:pt x="12700" y="0"/>
                  </a:moveTo>
                  <a:lnTo>
                    <a:pt x="24420195" y="0"/>
                  </a:lnTo>
                  <a:cubicBezTo>
                    <a:pt x="24427180" y="0"/>
                    <a:pt x="24432895" y="5715"/>
                    <a:pt x="24432895" y="12700"/>
                  </a:cubicBezTo>
                  <a:lnTo>
                    <a:pt x="24432895" y="11082909"/>
                  </a:lnTo>
                  <a:cubicBezTo>
                    <a:pt x="24432895" y="11089894"/>
                    <a:pt x="24427180" y="11095609"/>
                    <a:pt x="24420195" y="11095609"/>
                  </a:cubicBezTo>
                  <a:lnTo>
                    <a:pt x="12700" y="11095609"/>
                  </a:lnTo>
                  <a:cubicBezTo>
                    <a:pt x="5715" y="11095609"/>
                    <a:pt x="0" y="11089894"/>
                    <a:pt x="0" y="1108290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082909"/>
                  </a:lnTo>
                  <a:lnTo>
                    <a:pt x="12700" y="11082909"/>
                  </a:lnTo>
                  <a:lnTo>
                    <a:pt x="12700" y="11070209"/>
                  </a:lnTo>
                  <a:lnTo>
                    <a:pt x="24420195" y="11070209"/>
                  </a:lnTo>
                  <a:lnTo>
                    <a:pt x="24420195" y="11082909"/>
                  </a:lnTo>
                  <a:lnTo>
                    <a:pt x="24407495" y="11082909"/>
                  </a:lnTo>
                  <a:lnTo>
                    <a:pt x="24407495" y="12700"/>
                  </a:lnTo>
                  <a:lnTo>
                    <a:pt x="24420195" y="12700"/>
                  </a:lnTo>
                  <a:lnTo>
                    <a:pt x="244201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4617DE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5127473" y="572394"/>
            <a:ext cx="1777568" cy="877906"/>
            <a:chOff x="0" y="0"/>
            <a:chExt cx="2370090" cy="1170542"/>
          </a:xfrm>
        </p:grpSpPr>
        <p:sp>
          <p:nvSpPr>
            <p:cNvPr name="Freeform 8" id="8" descr="Picture 7"/>
            <p:cNvSpPr/>
            <p:nvPr/>
          </p:nvSpPr>
          <p:spPr>
            <a:xfrm flipH="false" flipV="false" rot="0">
              <a:off x="0" y="0"/>
              <a:ext cx="2370074" cy="1170559"/>
            </a:xfrm>
            <a:custGeom>
              <a:avLst/>
              <a:gdLst/>
              <a:ahLst/>
              <a:cxnLst/>
              <a:rect r="r" b="b" t="t" l="l"/>
              <a:pathLst>
                <a:path h="1170559" w="2370074">
                  <a:moveTo>
                    <a:pt x="0" y="0"/>
                  </a:moveTo>
                  <a:lnTo>
                    <a:pt x="2370074" y="0"/>
                  </a:lnTo>
                  <a:lnTo>
                    <a:pt x="2370074" y="1170559"/>
                  </a:lnTo>
                  <a:lnTo>
                    <a:pt x="0" y="117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61" t="0" r="-562" b="1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3445664" y="434190"/>
            <a:ext cx="1458211" cy="1119732"/>
            <a:chOff x="0" y="0"/>
            <a:chExt cx="1944282" cy="1492976"/>
          </a:xfrm>
        </p:grpSpPr>
        <p:sp>
          <p:nvSpPr>
            <p:cNvPr name="Freeform 10" id="10" descr="Picture 9"/>
            <p:cNvSpPr/>
            <p:nvPr/>
          </p:nvSpPr>
          <p:spPr>
            <a:xfrm flipH="false" flipV="false" rot="0">
              <a:off x="0" y="0"/>
              <a:ext cx="1944243" cy="1493012"/>
            </a:xfrm>
            <a:custGeom>
              <a:avLst/>
              <a:gdLst/>
              <a:ahLst/>
              <a:cxnLst/>
              <a:rect r="r" b="b" t="t" l="l"/>
              <a:pathLst>
                <a:path h="1493012" w="1944243">
                  <a:moveTo>
                    <a:pt x="0" y="0"/>
                  </a:moveTo>
                  <a:lnTo>
                    <a:pt x="1944243" y="0"/>
                  </a:lnTo>
                  <a:lnTo>
                    <a:pt x="1944243" y="1493012"/>
                  </a:lnTo>
                  <a:lnTo>
                    <a:pt x="0" y="149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7" t="0" r="-109" b="2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7201592" y="146404"/>
            <a:ext cx="808054" cy="1617030"/>
            <a:chOff x="0" y="0"/>
            <a:chExt cx="1077406" cy="2156040"/>
          </a:xfrm>
        </p:grpSpPr>
        <p:sp>
          <p:nvSpPr>
            <p:cNvPr name="Freeform 12" id="12" descr="pasted-movie.png"/>
            <p:cNvSpPr/>
            <p:nvPr/>
          </p:nvSpPr>
          <p:spPr>
            <a:xfrm flipH="false" flipV="false" rot="0">
              <a:off x="0" y="0"/>
              <a:ext cx="1077468" cy="2156079"/>
            </a:xfrm>
            <a:custGeom>
              <a:avLst/>
              <a:gdLst/>
              <a:ahLst/>
              <a:cxnLst/>
              <a:rect r="r" b="b" t="t" l="l"/>
              <a:pathLst>
                <a:path h="2156079" w="1077468">
                  <a:moveTo>
                    <a:pt x="0" y="0"/>
                  </a:moveTo>
                  <a:lnTo>
                    <a:pt x="1077468" y="0"/>
                  </a:lnTo>
                  <a:lnTo>
                    <a:pt x="1077468" y="2156079"/>
                  </a:lnTo>
                  <a:lnTo>
                    <a:pt x="0" y="215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04" r="5" b="-602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1943321" y="366993"/>
            <a:ext cx="1380389" cy="1175602"/>
            <a:chOff x="0" y="0"/>
            <a:chExt cx="1840518" cy="1567470"/>
          </a:xfrm>
        </p:grpSpPr>
        <p:sp>
          <p:nvSpPr>
            <p:cNvPr name="Freeform 14" id="14" descr="pasted-movie.png"/>
            <p:cNvSpPr/>
            <p:nvPr/>
          </p:nvSpPr>
          <p:spPr>
            <a:xfrm flipH="false" flipV="false" rot="0">
              <a:off x="0" y="0"/>
              <a:ext cx="1840484" cy="1567434"/>
            </a:xfrm>
            <a:custGeom>
              <a:avLst/>
              <a:gdLst/>
              <a:ahLst/>
              <a:cxnLst/>
              <a:rect r="r" b="b" t="t" l="l"/>
              <a:pathLst>
                <a:path h="1567434" w="1840484">
                  <a:moveTo>
                    <a:pt x="0" y="0"/>
                  </a:moveTo>
                  <a:lnTo>
                    <a:pt x="1840484" y="0"/>
                  </a:lnTo>
                  <a:lnTo>
                    <a:pt x="1840484" y="1567434"/>
                  </a:lnTo>
                  <a:lnTo>
                    <a:pt x="0" y="1567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378" t="-31606" r="-19623" b="-31609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5003453" y="7913580"/>
            <a:ext cx="3394872" cy="2414976"/>
            <a:chOff x="0" y="0"/>
            <a:chExt cx="4526496" cy="3219968"/>
          </a:xfrm>
        </p:grpSpPr>
        <p:sp>
          <p:nvSpPr>
            <p:cNvPr name="Freeform 16" id="16" descr="Image"/>
            <p:cNvSpPr/>
            <p:nvPr/>
          </p:nvSpPr>
          <p:spPr>
            <a:xfrm flipH="false" flipV="false" rot="0">
              <a:off x="0" y="0"/>
              <a:ext cx="4526534" cy="3219958"/>
            </a:xfrm>
            <a:custGeom>
              <a:avLst/>
              <a:gdLst/>
              <a:ahLst/>
              <a:cxnLst/>
              <a:rect r="r" b="b" t="t" l="l"/>
              <a:pathLst>
                <a:path h="3219958" w="4526534">
                  <a:moveTo>
                    <a:pt x="0" y="0"/>
                  </a:moveTo>
                  <a:lnTo>
                    <a:pt x="4526534" y="0"/>
                  </a:lnTo>
                  <a:lnTo>
                    <a:pt x="4526534" y="3219958"/>
                  </a:lnTo>
                  <a:lnTo>
                    <a:pt x="0" y="321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173" t="0" r="-16160" b="-51433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2061220" y="3067194"/>
            <a:ext cx="6380205" cy="6194822"/>
            <a:chOff x="0" y="0"/>
            <a:chExt cx="8506940" cy="8259762"/>
          </a:xfrm>
        </p:grpSpPr>
        <p:sp>
          <p:nvSpPr>
            <p:cNvPr name="Freeform 18" id="18" descr="Image"/>
            <p:cNvSpPr/>
            <p:nvPr/>
          </p:nvSpPr>
          <p:spPr>
            <a:xfrm flipH="false" flipV="false" rot="0">
              <a:off x="0" y="0"/>
              <a:ext cx="8506968" cy="8259699"/>
            </a:xfrm>
            <a:custGeom>
              <a:avLst/>
              <a:gdLst/>
              <a:ahLst/>
              <a:cxnLst/>
              <a:rect r="r" b="b" t="t" l="l"/>
              <a:pathLst>
                <a:path h="8259699" w="8506968">
                  <a:moveTo>
                    <a:pt x="0" y="0"/>
                  </a:moveTo>
                  <a:lnTo>
                    <a:pt x="8506968" y="0"/>
                  </a:lnTo>
                  <a:lnTo>
                    <a:pt x="8506968" y="8259699"/>
                  </a:lnTo>
                  <a:lnTo>
                    <a:pt x="0" y="82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5" r="0" b="-1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-180000">
            <a:off x="9914047" y="6836996"/>
            <a:ext cx="4077596" cy="938508"/>
            <a:chOff x="0" y="0"/>
            <a:chExt cx="5436794" cy="12513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12700"/>
              <a:ext cx="5411343" cy="1225931"/>
            </a:xfrm>
            <a:custGeom>
              <a:avLst/>
              <a:gdLst/>
              <a:ahLst/>
              <a:cxnLst/>
              <a:rect r="r" b="b" t="t" l="l"/>
              <a:pathLst>
                <a:path h="1225931" w="5411343">
                  <a:moveTo>
                    <a:pt x="0" y="0"/>
                  </a:moveTo>
                  <a:lnTo>
                    <a:pt x="5411343" y="0"/>
                  </a:lnTo>
                  <a:lnTo>
                    <a:pt x="5411343" y="1225931"/>
                  </a:lnTo>
                  <a:lnTo>
                    <a:pt x="0" y="1225931"/>
                  </a:lnTo>
                  <a:close/>
                </a:path>
              </a:pathLst>
            </a:custGeom>
            <a:solidFill>
              <a:srgbClr val="FE2E45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416547" y="5094487"/>
            <a:ext cx="7072594" cy="2628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9"/>
              </a:lnSpc>
            </a:pPr>
            <a:r>
              <a:rPr lang="en-US" b="true" sz="5550" spc="22">
                <a:solidFill>
                  <a:srgbClr val="FFFFFF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Uma nova geração </a:t>
            </a:r>
          </a:p>
          <a:p>
            <a:pPr algn="ctr">
              <a:lnSpc>
                <a:spcPts val="6659"/>
              </a:lnSpc>
            </a:pPr>
            <a:r>
              <a:rPr lang="en-US" b="true" sz="5550" spc="22">
                <a:solidFill>
                  <a:srgbClr val="FFFFFF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de especialistas em tecnologia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1787064"/>
            <a:ext cx="18955236" cy="8844420"/>
            <a:chOff x="0" y="0"/>
            <a:chExt cx="24383998" cy="113774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1377422"/>
            </a:xfrm>
            <a:custGeom>
              <a:avLst/>
              <a:gdLst/>
              <a:ahLst/>
              <a:cxnLst/>
              <a:rect r="r" b="b" t="t" l="l"/>
              <a:pathLst>
                <a:path h="1137742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377422"/>
                  </a:lnTo>
                  <a:lnTo>
                    <a:pt x="0" y="11377422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127473" y="572394"/>
            <a:ext cx="1777568" cy="877906"/>
            <a:chOff x="0" y="0"/>
            <a:chExt cx="2370090" cy="1170542"/>
          </a:xfrm>
        </p:grpSpPr>
        <p:sp>
          <p:nvSpPr>
            <p:cNvPr name="Freeform 5" id="5" descr="Picture 7"/>
            <p:cNvSpPr/>
            <p:nvPr/>
          </p:nvSpPr>
          <p:spPr>
            <a:xfrm flipH="false" flipV="false" rot="0">
              <a:off x="0" y="0"/>
              <a:ext cx="2370074" cy="1170559"/>
            </a:xfrm>
            <a:custGeom>
              <a:avLst/>
              <a:gdLst/>
              <a:ahLst/>
              <a:cxnLst/>
              <a:rect r="r" b="b" t="t" l="l"/>
              <a:pathLst>
                <a:path h="1170559" w="2370074">
                  <a:moveTo>
                    <a:pt x="0" y="0"/>
                  </a:moveTo>
                  <a:lnTo>
                    <a:pt x="2370074" y="0"/>
                  </a:lnTo>
                  <a:lnTo>
                    <a:pt x="2370074" y="1170559"/>
                  </a:lnTo>
                  <a:lnTo>
                    <a:pt x="0" y="117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1" t="0" r="-562" b="1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3445664" y="434190"/>
            <a:ext cx="1458211" cy="1119732"/>
            <a:chOff x="0" y="0"/>
            <a:chExt cx="1944282" cy="1492976"/>
          </a:xfrm>
        </p:grpSpPr>
        <p:sp>
          <p:nvSpPr>
            <p:cNvPr name="Freeform 7" id="7" descr="Picture 9"/>
            <p:cNvSpPr/>
            <p:nvPr/>
          </p:nvSpPr>
          <p:spPr>
            <a:xfrm flipH="false" flipV="false" rot="0">
              <a:off x="0" y="0"/>
              <a:ext cx="1944243" cy="1493012"/>
            </a:xfrm>
            <a:custGeom>
              <a:avLst/>
              <a:gdLst/>
              <a:ahLst/>
              <a:cxnLst/>
              <a:rect r="r" b="b" t="t" l="l"/>
              <a:pathLst>
                <a:path h="1493012" w="1944243">
                  <a:moveTo>
                    <a:pt x="0" y="0"/>
                  </a:moveTo>
                  <a:lnTo>
                    <a:pt x="1944243" y="0"/>
                  </a:lnTo>
                  <a:lnTo>
                    <a:pt x="1944243" y="1493012"/>
                  </a:lnTo>
                  <a:lnTo>
                    <a:pt x="0" y="149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" t="0" r="-109" b="2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7201592" y="146404"/>
            <a:ext cx="808054" cy="1617030"/>
            <a:chOff x="0" y="0"/>
            <a:chExt cx="1077406" cy="2156040"/>
          </a:xfrm>
        </p:grpSpPr>
        <p:sp>
          <p:nvSpPr>
            <p:cNvPr name="Freeform 9" id="9" descr="pasted-movie.png"/>
            <p:cNvSpPr/>
            <p:nvPr/>
          </p:nvSpPr>
          <p:spPr>
            <a:xfrm flipH="false" flipV="false" rot="0">
              <a:off x="0" y="0"/>
              <a:ext cx="1077468" cy="2156079"/>
            </a:xfrm>
            <a:custGeom>
              <a:avLst/>
              <a:gdLst/>
              <a:ahLst/>
              <a:cxnLst/>
              <a:rect r="r" b="b" t="t" l="l"/>
              <a:pathLst>
                <a:path h="2156079" w="1077468">
                  <a:moveTo>
                    <a:pt x="0" y="0"/>
                  </a:moveTo>
                  <a:lnTo>
                    <a:pt x="1077468" y="0"/>
                  </a:lnTo>
                  <a:lnTo>
                    <a:pt x="1077468" y="2156079"/>
                  </a:lnTo>
                  <a:lnTo>
                    <a:pt x="0" y="215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04" r="5" b="-602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1943321" y="366993"/>
            <a:ext cx="1380389" cy="1175602"/>
            <a:chOff x="0" y="0"/>
            <a:chExt cx="1840518" cy="1567470"/>
          </a:xfrm>
        </p:grpSpPr>
        <p:sp>
          <p:nvSpPr>
            <p:cNvPr name="Freeform 11" id="11" descr="pasted-movie.png"/>
            <p:cNvSpPr/>
            <p:nvPr/>
          </p:nvSpPr>
          <p:spPr>
            <a:xfrm flipH="false" flipV="false" rot="0">
              <a:off x="0" y="0"/>
              <a:ext cx="1840484" cy="1567434"/>
            </a:xfrm>
            <a:custGeom>
              <a:avLst/>
              <a:gdLst/>
              <a:ahLst/>
              <a:cxnLst/>
              <a:rect r="r" b="b" t="t" l="l"/>
              <a:pathLst>
                <a:path h="1567434" w="1840484">
                  <a:moveTo>
                    <a:pt x="0" y="0"/>
                  </a:moveTo>
                  <a:lnTo>
                    <a:pt x="1840484" y="0"/>
                  </a:lnTo>
                  <a:lnTo>
                    <a:pt x="1840484" y="1567434"/>
                  </a:lnTo>
                  <a:lnTo>
                    <a:pt x="0" y="1567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378" t="-31606" r="-19623" b="-31609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5003453" y="7954522"/>
            <a:ext cx="3394872" cy="2414976"/>
            <a:chOff x="0" y="0"/>
            <a:chExt cx="4526496" cy="3219968"/>
          </a:xfrm>
        </p:grpSpPr>
        <p:sp>
          <p:nvSpPr>
            <p:cNvPr name="Freeform 13" id="13" descr="Image"/>
            <p:cNvSpPr/>
            <p:nvPr/>
          </p:nvSpPr>
          <p:spPr>
            <a:xfrm flipH="false" flipV="false" rot="0">
              <a:off x="0" y="0"/>
              <a:ext cx="4526534" cy="3219958"/>
            </a:xfrm>
            <a:custGeom>
              <a:avLst/>
              <a:gdLst/>
              <a:ahLst/>
              <a:cxnLst/>
              <a:rect r="r" b="b" t="t" l="l"/>
              <a:pathLst>
                <a:path h="3219958" w="4526534">
                  <a:moveTo>
                    <a:pt x="0" y="0"/>
                  </a:moveTo>
                  <a:lnTo>
                    <a:pt x="4526534" y="0"/>
                  </a:lnTo>
                  <a:lnTo>
                    <a:pt x="4526534" y="3219958"/>
                  </a:lnTo>
                  <a:lnTo>
                    <a:pt x="0" y="321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73" t="0" r="-16160" b="-51433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0" y="5890935"/>
            <a:ext cx="6377054" cy="4396065"/>
          </a:xfrm>
          <a:custGeom>
            <a:avLst/>
            <a:gdLst/>
            <a:ahLst/>
            <a:cxnLst/>
            <a:rect r="r" b="b" t="t" l="l"/>
            <a:pathLst>
              <a:path h="4396065" w="6377054">
                <a:moveTo>
                  <a:pt x="0" y="0"/>
                </a:moveTo>
                <a:lnTo>
                  <a:pt x="6377054" y="0"/>
                </a:lnTo>
                <a:lnTo>
                  <a:pt x="6377054" y="4396065"/>
                </a:lnTo>
                <a:lnTo>
                  <a:pt x="0" y="43960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689" t="0" r="-2141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0" y="1787064"/>
            <a:ext cx="6377054" cy="4103871"/>
          </a:xfrm>
          <a:custGeom>
            <a:avLst/>
            <a:gdLst/>
            <a:ahLst/>
            <a:cxnLst/>
            <a:rect r="r" b="b" t="t" l="l"/>
            <a:pathLst>
              <a:path h="4103871" w="6377054">
                <a:moveTo>
                  <a:pt x="0" y="0"/>
                </a:moveTo>
                <a:lnTo>
                  <a:pt x="6377054" y="0"/>
                </a:lnTo>
                <a:lnTo>
                  <a:pt x="6377054" y="4103871"/>
                </a:lnTo>
                <a:lnTo>
                  <a:pt x="0" y="41038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405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427537" y="4073837"/>
            <a:ext cx="8896173" cy="3844490"/>
            <a:chOff x="0" y="0"/>
            <a:chExt cx="2343025" cy="101254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43025" cy="1012541"/>
            </a:xfrm>
            <a:custGeom>
              <a:avLst/>
              <a:gdLst/>
              <a:ahLst/>
              <a:cxnLst/>
              <a:rect r="r" b="b" t="t" l="l"/>
              <a:pathLst>
                <a:path h="1012541" w="2343025">
                  <a:moveTo>
                    <a:pt x="44383" y="0"/>
                  </a:moveTo>
                  <a:lnTo>
                    <a:pt x="2298642" y="0"/>
                  </a:lnTo>
                  <a:cubicBezTo>
                    <a:pt x="2323154" y="0"/>
                    <a:pt x="2343025" y="19871"/>
                    <a:pt x="2343025" y="44383"/>
                  </a:cubicBezTo>
                  <a:lnTo>
                    <a:pt x="2343025" y="968158"/>
                  </a:lnTo>
                  <a:cubicBezTo>
                    <a:pt x="2343025" y="992670"/>
                    <a:pt x="2323154" y="1012541"/>
                    <a:pt x="2298642" y="1012541"/>
                  </a:cubicBezTo>
                  <a:lnTo>
                    <a:pt x="44383" y="1012541"/>
                  </a:lnTo>
                  <a:cubicBezTo>
                    <a:pt x="19871" y="1012541"/>
                    <a:pt x="0" y="992670"/>
                    <a:pt x="0" y="968158"/>
                  </a:cubicBezTo>
                  <a:lnTo>
                    <a:pt x="0" y="44383"/>
                  </a:lnTo>
                  <a:cubicBezTo>
                    <a:pt x="0" y="19871"/>
                    <a:pt x="19871" y="0"/>
                    <a:pt x="44383" y="0"/>
                  </a:cubicBezTo>
                  <a:close/>
                </a:path>
              </a:pathLst>
            </a:custGeom>
            <a:solidFill>
              <a:srgbClr val="1C1B96">
                <a:alpha val="74902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343025" cy="1060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-449653" y="4119668"/>
            <a:ext cx="3542534" cy="3542534"/>
            <a:chOff x="0" y="0"/>
            <a:chExt cx="13716000" cy="13716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9"/>
              <a:stretch>
                <a:fillRect l="-37352" t="0" r="-37352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4894350" y="5006814"/>
            <a:ext cx="3003340" cy="1083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8"/>
              </a:lnSpc>
            </a:pPr>
            <a:r>
              <a:rPr lang="en-US" b="true" sz="2700" spc="12">
                <a:solidFill>
                  <a:srgbClr val="FF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Equipa do Projeto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03453" y="6152124"/>
            <a:ext cx="3123710" cy="176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b="true" sz="27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Geronimo Beco</a:t>
            </a:r>
          </a:p>
          <a:p>
            <a:pPr algn="just">
              <a:lnSpc>
                <a:spcPts val="3240"/>
              </a:lnSpc>
            </a:pPr>
            <a:r>
              <a:rPr lang="en-US" b="true" sz="27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Iveth de Lima</a:t>
            </a:r>
          </a:p>
          <a:p>
            <a:pPr algn="just">
              <a:lnSpc>
                <a:spcPts val="3240"/>
              </a:lnSpc>
            </a:pPr>
            <a:r>
              <a:rPr lang="en-US" b="true" sz="27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Laurinda Carlos</a:t>
            </a:r>
          </a:p>
          <a:p>
            <a:pPr algn="just">
              <a:lnSpc>
                <a:spcPts val="3240"/>
              </a:lnSpc>
            </a:pPr>
            <a:r>
              <a:rPr lang="en-US" b="true" sz="27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Pitchi Sidibe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60966" y="4144443"/>
            <a:ext cx="8531354" cy="103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4"/>
              </a:lnSpc>
            </a:pPr>
            <a:r>
              <a:rPr lang="en-US" b="true" sz="5740">
                <a:solidFill>
                  <a:srgbClr val="FF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Alerta Inundação Angola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292906" y="5486818"/>
            <a:ext cx="11610969" cy="674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0"/>
              </a:lnSpc>
            </a:pPr>
            <a:r>
              <a:rPr lang="en-US" sz="357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 Inteligente de Previsão de Inundações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410822" y="6444871"/>
            <a:ext cx="11375138" cy="1085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</a:pPr>
            <a:r>
              <a:rPr lang="en-US" sz="2683" spc="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Capstone Project</a:t>
            </a:r>
          </a:p>
          <a:p>
            <a:pPr algn="ctr">
              <a:lnSpc>
                <a:spcPts val="4273"/>
              </a:lnSpc>
            </a:pPr>
            <a:r>
              <a:rPr lang="en-US" sz="2683" spc="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Frontier Tech Leaders Programme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127473" y="5376964"/>
            <a:ext cx="1268548" cy="713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5"/>
              </a:lnSpc>
            </a:pPr>
            <a:r>
              <a:rPr lang="en-US" b="true" sz="2680" spc="11">
                <a:solidFill>
                  <a:srgbClr val="FF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Grupo 7 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1756" y="2880290"/>
            <a:ext cx="6453046" cy="948447"/>
            <a:chOff x="0" y="0"/>
            <a:chExt cx="8604062" cy="12645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8578723" cy="1239139"/>
            </a:xfrm>
            <a:custGeom>
              <a:avLst/>
              <a:gdLst/>
              <a:ahLst/>
              <a:cxnLst/>
              <a:rect r="r" b="b" t="t" l="l"/>
              <a:pathLst>
                <a:path h="1239139" w="8578723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2692828"/>
            <a:ext cx="11653162" cy="1323369"/>
            <a:chOff x="0" y="0"/>
            <a:chExt cx="15537550" cy="17644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37551" cy="1764492"/>
            </a:xfrm>
            <a:custGeom>
              <a:avLst/>
              <a:gdLst/>
              <a:ahLst/>
              <a:cxnLst/>
              <a:rect r="r" b="b" t="t" l="l"/>
              <a:pathLst>
                <a:path h="1764492" w="15537551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15537550" cy="1707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27"/>
                </a:lnSpc>
              </a:pPr>
              <a:r>
                <a:rPr lang="en-US" b="true" sz="5025" spc="2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geral</a:t>
              </a: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682956" y="744174"/>
            <a:ext cx="2921214" cy="248720"/>
            <a:chOff x="0" y="0"/>
            <a:chExt cx="3894952" cy="331626"/>
          </a:xfrm>
        </p:grpSpPr>
        <p:sp>
          <p:nvSpPr>
            <p:cNvPr name="Freeform 8" id="8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t="0" r="-2067" b="-8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10" id="10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t="0" r="-582" b="5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12" id="12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" r="0" b="-227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13" b="3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51756" y="4411763"/>
            <a:ext cx="7802426" cy="3921581"/>
            <a:chOff x="0" y="0"/>
            <a:chExt cx="10403235" cy="5228775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257175"/>
              <a:ext cx="1387008" cy="14221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16"/>
                </a:lnSpc>
              </a:pPr>
              <a:r>
                <a:rPr lang="en-US" b="true" sz="4343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907135" y="-209550"/>
              <a:ext cx="6345158" cy="853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5584" indent="-347792" lvl="1">
                <a:lnSpc>
                  <a:spcPts val="5460"/>
                </a:lnSpc>
                <a:buFont typeface="Arial"/>
                <a:buChar char="•"/>
              </a:pPr>
              <a:r>
                <a:rPr lang="en-US" b="true" sz="322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Contexto e Objetivos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774710"/>
              <a:ext cx="1387008" cy="14221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16"/>
                </a:lnSpc>
              </a:pPr>
              <a:r>
                <a:rPr lang="en-US" b="true" sz="4343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907135" y="1822335"/>
              <a:ext cx="5292842" cy="853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5584" indent="-347792" lvl="1">
                <a:lnSpc>
                  <a:spcPts val="5460"/>
                </a:lnSpc>
                <a:buFont typeface="Arial"/>
                <a:buChar char="•"/>
              </a:pPr>
              <a:r>
                <a:rPr lang="en-US" b="true" sz="322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Relação com ODS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3806596"/>
              <a:ext cx="1387008" cy="14221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16"/>
                </a:lnSpc>
              </a:pPr>
              <a:r>
                <a:rPr lang="en-US" b="true" sz="4343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907135" y="3854221"/>
              <a:ext cx="8496100" cy="853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5584" indent="-347792" lvl="1">
                <a:lnSpc>
                  <a:spcPts val="5460"/>
                </a:lnSpc>
                <a:buFont typeface="Arial"/>
                <a:buChar char="•"/>
              </a:pPr>
              <a:r>
                <a:rPr lang="en-US" b="true" sz="322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Dados e Pré-processamento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281940" y="4218099"/>
            <a:ext cx="9046806" cy="3794988"/>
            <a:chOff x="0" y="0"/>
            <a:chExt cx="12062408" cy="5059983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-238125"/>
              <a:ext cx="1342234" cy="1365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693"/>
                </a:lnSpc>
              </a:pPr>
              <a:r>
                <a:rPr lang="en-US" b="true" sz="4202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845570" y="-209550"/>
              <a:ext cx="10216838" cy="837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73130" indent="-336565" lvl="1">
                <a:lnSpc>
                  <a:spcPts val="5284"/>
                </a:lnSpc>
                <a:buFont typeface="Arial"/>
                <a:buChar char="•"/>
              </a:pPr>
              <a:r>
                <a:rPr lang="en-US" b="true" sz="3117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Seleção e Treinamento de Modelos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1728169"/>
              <a:ext cx="1342234" cy="1365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693"/>
                </a:lnSpc>
              </a:pPr>
              <a:r>
                <a:rPr lang="en-US" b="true" sz="4202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845570" y="1756744"/>
              <a:ext cx="7637753" cy="837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73130" indent="-336565" lvl="1">
                <a:lnSpc>
                  <a:spcPts val="5284"/>
                </a:lnSpc>
                <a:buFont typeface="Arial"/>
                <a:buChar char="•"/>
              </a:pPr>
              <a:r>
                <a:rPr lang="en-US" b="true" sz="3117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Resultados e Implantação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3694462"/>
              <a:ext cx="1342234" cy="1365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693"/>
                </a:lnSpc>
              </a:pPr>
              <a:r>
                <a:rPr lang="en-US" b="true" sz="4202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845570" y="3723037"/>
              <a:ext cx="4714333" cy="837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73130" indent="-336565" lvl="1">
                <a:lnSpc>
                  <a:spcPts val="5284"/>
                </a:lnSpc>
                <a:buFont typeface="Arial"/>
                <a:buChar char="•"/>
              </a:pPr>
              <a:r>
                <a:rPr lang="en-US" b="true" sz="3117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Trabalho Futuro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2513" y="1468030"/>
            <a:ext cx="6453046" cy="948447"/>
            <a:chOff x="0" y="0"/>
            <a:chExt cx="8604062" cy="12645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8578723" cy="1239139"/>
            </a:xfrm>
            <a:custGeom>
              <a:avLst/>
              <a:gdLst/>
              <a:ahLst/>
              <a:cxnLst/>
              <a:rect r="r" b="b" t="t" l="l"/>
              <a:pathLst>
                <a:path h="1239139" w="8578723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2513" y="1280569"/>
            <a:ext cx="11653162" cy="1323369"/>
            <a:chOff x="0" y="0"/>
            <a:chExt cx="15537550" cy="17644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37551" cy="1764492"/>
            </a:xfrm>
            <a:custGeom>
              <a:avLst/>
              <a:gdLst/>
              <a:ahLst/>
              <a:cxnLst/>
              <a:rect r="r" b="b" t="t" l="l"/>
              <a:pathLst>
                <a:path h="1764492" w="15537551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15537550" cy="1707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27"/>
                </a:lnSpc>
              </a:pPr>
              <a:r>
                <a:rPr lang="en-US" b="true" sz="5025" spc="2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Background</a:t>
              </a: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682956" y="744174"/>
            <a:ext cx="2921214" cy="248720"/>
            <a:chOff x="0" y="0"/>
            <a:chExt cx="3894952" cy="331626"/>
          </a:xfrm>
        </p:grpSpPr>
        <p:sp>
          <p:nvSpPr>
            <p:cNvPr name="Freeform 8" id="8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t="0" r="-2067" b="-8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10" id="10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t="0" r="-582" b="5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12" id="12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" r="0" b="-227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13" b="3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484529" y="2365813"/>
            <a:ext cx="16002000" cy="808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6"/>
              </a:lnSpc>
            </a:pPr>
            <a:r>
              <a:rPr lang="en-US" b="true" sz="3752">
                <a:solidFill>
                  <a:srgbClr val="2B255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Inundações Recorrentes em Luanda: Um Desafio de Infraestrutura e Prevenção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84529" y="3174285"/>
            <a:ext cx="7643812" cy="2083018"/>
            <a:chOff x="0" y="0"/>
            <a:chExt cx="10191749" cy="2777357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0191749" cy="2777357"/>
              <a:chOff x="0" y="0"/>
              <a:chExt cx="10191749" cy="277735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0191750" cy="2777363"/>
              </a:xfrm>
              <a:custGeom>
                <a:avLst/>
                <a:gdLst/>
                <a:ahLst/>
                <a:cxnLst/>
                <a:rect r="r" b="b" t="t" l="l"/>
                <a:pathLst>
                  <a:path h="2777363" w="10191750">
                    <a:moveTo>
                      <a:pt x="0" y="0"/>
                    </a:moveTo>
                    <a:lnTo>
                      <a:pt x="10191750" y="0"/>
                    </a:lnTo>
                    <a:lnTo>
                      <a:pt x="10191750" y="2777363"/>
                    </a:lnTo>
                    <a:lnTo>
                      <a:pt x="0" y="2777363"/>
                    </a:lnTo>
                    <a:close/>
                  </a:path>
                </a:pathLst>
              </a:custGeom>
              <a:solidFill>
                <a:srgbClr val="3498DB">
                  <a:alpha val="0"/>
                </a:srgbClr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0"/>
              <a:ext cx="76200" cy="2777357"/>
              <a:chOff x="0" y="0"/>
              <a:chExt cx="76200" cy="2777357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76200" cy="2777363"/>
              </a:xfrm>
              <a:custGeom>
                <a:avLst/>
                <a:gdLst/>
                <a:ahLst/>
                <a:cxnLst/>
                <a:rect r="r" b="b" t="t" l="l"/>
                <a:pathLst>
                  <a:path h="2777363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2777363"/>
                    </a:lnTo>
                    <a:lnTo>
                      <a:pt x="0" y="2777363"/>
                    </a:lnTo>
                    <a:close/>
                  </a:path>
                </a:pathLst>
              </a:custGeom>
              <a:solidFill>
                <a:srgbClr val="3498DB"/>
              </a:solid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381000" y="200025"/>
              <a:ext cx="9429749" cy="6563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56"/>
                </a:lnSpc>
              </a:pPr>
              <a:r>
                <a:rPr lang="en-US" b="true" sz="2365" spc="3">
                  <a:solidFill>
                    <a:srgbClr val="2B25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Contexto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81000" y="790576"/>
              <a:ext cx="9429749" cy="1659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3"/>
                </a:lnSpc>
              </a:pPr>
              <a:r>
                <a:rPr lang="en-US" sz="196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Inundações urbanas recorrentes em Angola, agravadas por precipitação intensa e infraestrutura de drenagem inadequada, especialmente em Luanda.</a:t>
              </a:r>
            </a:p>
          </p:txBody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10936369" y="3174285"/>
            <a:ext cx="6963075" cy="3723690"/>
            <a:chOff x="0" y="0"/>
            <a:chExt cx="10191749" cy="5450309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10191750" cy="5450332"/>
            </a:xfrm>
            <a:custGeom>
              <a:avLst/>
              <a:gdLst/>
              <a:ahLst/>
              <a:cxnLst/>
              <a:rect r="r" b="b" t="t" l="l"/>
              <a:pathLst>
                <a:path h="5450332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5450332"/>
                  </a:lnTo>
                  <a:lnTo>
                    <a:pt x="0" y="5450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56" r="0" b="-155"/>
              </a:stretch>
            </a:blipFill>
          </p:spPr>
        </p:sp>
      </p:grp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8584734" y="6217799"/>
            <a:ext cx="4010660" cy="3329616"/>
            <a:chOff x="0" y="0"/>
            <a:chExt cx="9178603" cy="762000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9178544" cy="7620000"/>
            </a:xfrm>
            <a:custGeom>
              <a:avLst/>
              <a:gdLst/>
              <a:ahLst/>
              <a:cxnLst/>
              <a:rect r="r" b="b" t="t" l="l"/>
              <a:pathLst>
                <a:path h="7620000" w="9178544">
                  <a:moveTo>
                    <a:pt x="0" y="0"/>
                  </a:moveTo>
                  <a:lnTo>
                    <a:pt x="9178544" y="0"/>
                  </a:lnTo>
                  <a:lnTo>
                    <a:pt x="9178544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9" t="0" r="-19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84529" y="5381002"/>
            <a:ext cx="7643812" cy="2083018"/>
            <a:chOff x="0" y="0"/>
            <a:chExt cx="10191749" cy="2777357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10191749" cy="2777357"/>
              <a:chOff x="0" y="0"/>
              <a:chExt cx="10191749" cy="2777357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0191750" cy="2777363"/>
              </a:xfrm>
              <a:custGeom>
                <a:avLst/>
                <a:gdLst/>
                <a:ahLst/>
                <a:cxnLst/>
                <a:rect r="r" b="b" t="t" l="l"/>
                <a:pathLst>
                  <a:path h="2777363" w="10191750">
                    <a:moveTo>
                      <a:pt x="0" y="0"/>
                    </a:moveTo>
                    <a:lnTo>
                      <a:pt x="10191750" y="0"/>
                    </a:lnTo>
                    <a:lnTo>
                      <a:pt x="10191750" y="2777363"/>
                    </a:lnTo>
                    <a:lnTo>
                      <a:pt x="0" y="2777363"/>
                    </a:lnTo>
                    <a:close/>
                  </a:path>
                </a:pathLst>
              </a:custGeom>
              <a:solidFill>
                <a:srgbClr val="3498DB">
                  <a:alpha val="0"/>
                </a:srgbClr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0"/>
              <a:ext cx="76200" cy="2777357"/>
              <a:chOff x="0" y="0"/>
              <a:chExt cx="76200" cy="277735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76200" cy="2777363"/>
              </a:xfrm>
              <a:custGeom>
                <a:avLst/>
                <a:gdLst/>
                <a:ahLst/>
                <a:cxnLst/>
                <a:rect r="r" b="b" t="t" l="l"/>
                <a:pathLst>
                  <a:path h="2777363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2777363"/>
                    </a:lnTo>
                    <a:lnTo>
                      <a:pt x="0" y="2777363"/>
                    </a:lnTo>
                    <a:close/>
                  </a:path>
                </a:pathLst>
              </a:custGeom>
              <a:solidFill>
                <a:srgbClr val="3498DB"/>
              </a:solidFill>
            </p:spPr>
          </p:sp>
        </p:grpSp>
        <p:sp>
          <p:nvSpPr>
            <p:cNvPr name="TextBox 36" id="36"/>
            <p:cNvSpPr txBox="true"/>
            <p:nvPr/>
          </p:nvSpPr>
          <p:spPr>
            <a:xfrm rot="0">
              <a:off x="381000" y="200025"/>
              <a:ext cx="9429749" cy="6563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56"/>
                </a:lnSpc>
              </a:pPr>
              <a:r>
                <a:rPr lang="en-US" b="true" sz="2365" spc="3">
                  <a:solidFill>
                    <a:srgbClr val="2B25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Impacto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381000" y="790573"/>
              <a:ext cx="9429749" cy="1659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3"/>
                </a:lnSpc>
              </a:pPr>
              <a:r>
                <a:rPr lang="en-US" sz="196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Perdas humanas e materiais significativas, afetando desproporcionalmente comunidades vulneráveis em musseques e áreas de risco.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84529" y="7587720"/>
            <a:ext cx="7643812" cy="1717290"/>
            <a:chOff x="0" y="0"/>
            <a:chExt cx="10191749" cy="2289720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0191749" cy="2289720"/>
              <a:chOff x="0" y="0"/>
              <a:chExt cx="10191749" cy="228972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0191750" cy="2289683"/>
              </a:xfrm>
              <a:custGeom>
                <a:avLst/>
                <a:gdLst/>
                <a:ahLst/>
                <a:cxnLst/>
                <a:rect r="r" b="b" t="t" l="l"/>
                <a:pathLst>
                  <a:path h="2289683" w="10191750">
                    <a:moveTo>
                      <a:pt x="0" y="0"/>
                    </a:moveTo>
                    <a:lnTo>
                      <a:pt x="10191750" y="0"/>
                    </a:lnTo>
                    <a:lnTo>
                      <a:pt x="10191750" y="2289683"/>
                    </a:lnTo>
                    <a:lnTo>
                      <a:pt x="0" y="2289683"/>
                    </a:lnTo>
                    <a:close/>
                  </a:path>
                </a:pathLst>
              </a:custGeom>
              <a:solidFill>
                <a:srgbClr val="3498DB">
                  <a:alpha val="0"/>
                </a:srgbClr>
              </a:solidFill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0" y="0"/>
              <a:ext cx="76200" cy="2289720"/>
              <a:chOff x="0" y="0"/>
              <a:chExt cx="76200" cy="228972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76200" cy="2289683"/>
              </a:xfrm>
              <a:custGeom>
                <a:avLst/>
                <a:gdLst/>
                <a:ahLst/>
                <a:cxnLst/>
                <a:rect r="r" b="b" t="t" l="l"/>
                <a:pathLst>
                  <a:path h="2289683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2289683"/>
                    </a:lnTo>
                    <a:lnTo>
                      <a:pt x="0" y="2289683"/>
                    </a:lnTo>
                    <a:close/>
                  </a:path>
                </a:pathLst>
              </a:custGeom>
              <a:solidFill>
                <a:srgbClr val="3498DB"/>
              </a:solidFill>
            </p:spPr>
          </p:sp>
        </p:grpSp>
        <p:sp>
          <p:nvSpPr>
            <p:cNvPr name="TextBox 43" id="43"/>
            <p:cNvSpPr txBox="true"/>
            <p:nvPr/>
          </p:nvSpPr>
          <p:spPr>
            <a:xfrm rot="0">
              <a:off x="381000" y="200025"/>
              <a:ext cx="9429749" cy="6563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56"/>
                </a:lnSpc>
              </a:pPr>
              <a:r>
                <a:rPr lang="en-US" b="true" sz="2365" spc="3">
                  <a:solidFill>
                    <a:srgbClr val="2B25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Lacuna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81000" y="790576"/>
              <a:ext cx="9429749" cy="11009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3"/>
                </a:lnSpc>
              </a:pPr>
              <a:r>
                <a:rPr lang="en-US" sz="196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Ausência de sistemas de alerta precoce eficazes para permitir ações preventivas e mitigar danos.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0118" y="1707387"/>
            <a:ext cx="6453046" cy="948447"/>
            <a:chOff x="0" y="0"/>
            <a:chExt cx="8604062" cy="12645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8578723" cy="1239139"/>
            </a:xfrm>
            <a:custGeom>
              <a:avLst/>
              <a:gdLst/>
              <a:ahLst/>
              <a:cxnLst/>
              <a:rect r="r" b="b" t="t" l="l"/>
              <a:pathLst>
                <a:path h="1239139" w="8578723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0118" y="1519926"/>
            <a:ext cx="11653162" cy="1323369"/>
            <a:chOff x="0" y="0"/>
            <a:chExt cx="15537550" cy="17644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37551" cy="1764492"/>
            </a:xfrm>
            <a:custGeom>
              <a:avLst/>
              <a:gdLst/>
              <a:ahLst/>
              <a:cxnLst/>
              <a:rect r="r" b="b" t="t" l="l"/>
              <a:pathLst>
                <a:path h="1764492" w="15537551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15537550" cy="1707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27"/>
                </a:lnSpc>
              </a:pPr>
              <a:r>
                <a:rPr lang="en-US" b="true" sz="5025" spc="2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Objetivos</a:t>
              </a: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682956" y="744174"/>
            <a:ext cx="2921214" cy="248720"/>
            <a:chOff x="0" y="0"/>
            <a:chExt cx="3894952" cy="331626"/>
          </a:xfrm>
        </p:grpSpPr>
        <p:sp>
          <p:nvSpPr>
            <p:cNvPr name="Freeform 8" id="8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t="0" r="-2067" b="-8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10" id="10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t="0" r="-582" b="5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12" id="12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" r="0" b="-227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13" b="3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56570" y="2567070"/>
            <a:ext cx="16002000" cy="1348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9"/>
              </a:lnSpc>
            </a:pPr>
            <a:r>
              <a:rPr lang="en-US" b="true" sz="4452">
                <a:solidFill>
                  <a:srgbClr val="2B255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Previsão Antecipada para Ação Preventiva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43000" y="3557670"/>
            <a:ext cx="16391574" cy="5991427"/>
            <a:chOff x="0" y="0"/>
            <a:chExt cx="21855432" cy="7988569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76200"/>
              <a:ext cx="1951378" cy="11530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47"/>
                </a:lnSpc>
              </a:pPr>
              <a:r>
                <a:rPr lang="en-US" b="true" sz="5318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grpSp>
          <p:nvGrpSpPr>
            <p:cNvPr name="Group 22" id="22"/>
            <p:cNvGrpSpPr/>
            <p:nvPr/>
          </p:nvGrpSpPr>
          <p:grpSpPr>
            <a:xfrm rot="0">
              <a:off x="2536792" y="0"/>
              <a:ext cx="19318640" cy="2249810"/>
              <a:chOff x="0" y="0"/>
              <a:chExt cx="20789780" cy="242113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0789779" cy="2421128"/>
              </a:xfrm>
              <a:custGeom>
                <a:avLst/>
                <a:gdLst/>
                <a:ahLst/>
                <a:cxnLst/>
                <a:rect r="r" b="b" t="t" l="l"/>
                <a:pathLst>
                  <a:path h="2421128" w="20789779">
                    <a:moveTo>
                      <a:pt x="0" y="0"/>
                    </a:moveTo>
                    <a:lnTo>
                      <a:pt x="20789779" y="0"/>
                    </a:lnTo>
                    <a:lnTo>
                      <a:pt x="20789779" y="2421128"/>
                    </a:lnTo>
                    <a:lnTo>
                      <a:pt x="0" y="2421128"/>
                    </a:lnTo>
                    <a:close/>
                  </a:path>
                </a:pathLst>
              </a:custGeom>
              <a:solidFill>
                <a:srgbClr val="3498DB">
                  <a:alpha val="0"/>
                </a:srgbClr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2536792" y="0"/>
              <a:ext cx="78055" cy="2249810"/>
              <a:chOff x="0" y="0"/>
              <a:chExt cx="83999" cy="242113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3999" cy="2421128"/>
              </a:xfrm>
              <a:custGeom>
                <a:avLst/>
                <a:gdLst/>
                <a:ahLst/>
                <a:cxnLst/>
                <a:rect r="r" b="b" t="t" l="l"/>
                <a:pathLst>
                  <a:path h="2421128" w="83999">
                    <a:moveTo>
                      <a:pt x="0" y="0"/>
                    </a:moveTo>
                    <a:lnTo>
                      <a:pt x="83999" y="0"/>
                    </a:lnTo>
                    <a:lnTo>
                      <a:pt x="83999" y="2421128"/>
                    </a:lnTo>
                    <a:lnTo>
                      <a:pt x="0" y="2421128"/>
                    </a:lnTo>
                    <a:close/>
                  </a:path>
                </a:pathLst>
              </a:custGeom>
              <a:solidFill>
                <a:srgbClr val="3498DB"/>
              </a:solidFill>
            </p:spPr>
          </p:sp>
        </p:grpSp>
        <p:sp>
          <p:nvSpPr>
            <p:cNvPr name="TextBox 26" id="26"/>
            <p:cNvSpPr txBox="true"/>
            <p:nvPr/>
          </p:nvSpPr>
          <p:spPr>
            <a:xfrm rot="0">
              <a:off x="3024635" y="201639"/>
              <a:ext cx="18342950" cy="544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32"/>
                </a:lnSpc>
              </a:pPr>
              <a:r>
                <a:rPr lang="en-US" b="true" sz="1978" spc="3">
                  <a:solidFill>
                    <a:srgbClr val="2B25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Principal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024635" y="723848"/>
              <a:ext cx="18342950" cy="521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98282" indent="-199141" lvl="1">
                <a:lnSpc>
                  <a:spcPts val="3335"/>
                </a:lnSpc>
                <a:buFont typeface="Arial"/>
                <a:buChar char="•"/>
              </a:pPr>
              <a:r>
                <a:rPr lang="en-US" b="true" sz="1844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Desenvolver um </a:t>
              </a:r>
              <a:r>
                <a:rPr lang="en-US" b="true" sz="1844">
                  <a:solidFill>
                    <a:srgbClr val="0A4C6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modelo de Machine Learning</a:t>
              </a:r>
              <a:r>
                <a:rPr lang="en-US" b="true" sz="1844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para classificar o risco de inundação com base em dados meteorológicos e geoespaciais.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2793178"/>
              <a:ext cx="1951378" cy="11530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47"/>
                </a:lnSpc>
              </a:pPr>
              <a:r>
                <a:rPr lang="en-US" b="true" sz="5318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2536792" y="2869378"/>
              <a:ext cx="19318640" cy="2249810"/>
              <a:chOff x="0" y="0"/>
              <a:chExt cx="20789780" cy="2421136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0789779" cy="2421128"/>
              </a:xfrm>
              <a:custGeom>
                <a:avLst/>
                <a:gdLst/>
                <a:ahLst/>
                <a:cxnLst/>
                <a:rect r="r" b="b" t="t" l="l"/>
                <a:pathLst>
                  <a:path h="2421128" w="20789779">
                    <a:moveTo>
                      <a:pt x="0" y="0"/>
                    </a:moveTo>
                    <a:lnTo>
                      <a:pt x="20789779" y="0"/>
                    </a:lnTo>
                    <a:lnTo>
                      <a:pt x="20789779" y="2421128"/>
                    </a:lnTo>
                    <a:lnTo>
                      <a:pt x="0" y="2421128"/>
                    </a:lnTo>
                    <a:close/>
                  </a:path>
                </a:pathLst>
              </a:custGeom>
              <a:solidFill>
                <a:srgbClr val="3498DB">
                  <a:alpha val="0"/>
                </a:srgbClr>
              </a:solidFill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2536792" y="2869378"/>
              <a:ext cx="78055" cy="2249810"/>
              <a:chOff x="0" y="0"/>
              <a:chExt cx="83999" cy="2421136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3999" cy="2421128"/>
              </a:xfrm>
              <a:custGeom>
                <a:avLst/>
                <a:gdLst/>
                <a:ahLst/>
                <a:cxnLst/>
                <a:rect r="r" b="b" t="t" l="l"/>
                <a:pathLst>
                  <a:path h="2421128" w="83999">
                    <a:moveTo>
                      <a:pt x="0" y="0"/>
                    </a:moveTo>
                    <a:lnTo>
                      <a:pt x="83999" y="0"/>
                    </a:lnTo>
                    <a:lnTo>
                      <a:pt x="83999" y="2421128"/>
                    </a:lnTo>
                    <a:lnTo>
                      <a:pt x="0" y="2421128"/>
                    </a:lnTo>
                    <a:close/>
                  </a:path>
                </a:pathLst>
              </a:custGeom>
              <a:solidFill>
                <a:srgbClr val="3498DB"/>
              </a:solidFill>
            </p:spPr>
          </p:sp>
        </p:grpSp>
        <p:sp>
          <p:nvSpPr>
            <p:cNvPr name="TextBox 33" id="33"/>
            <p:cNvSpPr txBox="true"/>
            <p:nvPr/>
          </p:nvSpPr>
          <p:spPr>
            <a:xfrm rot="0">
              <a:off x="3024635" y="3071018"/>
              <a:ext cx="18342950" cy="544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32"/>
                </a:lnSpc>
              </a:pPr>
              <a:r>
                <a:rPr lang="en-US" b="true" sz="1978" spc="3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Meta Crítica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3024635" y="3593227"/>
              <a:ext cx="18342950" cy="521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98280" indent="-199140" lvl="1">
                <a:lnSpc>
                  <a:spcPts val="3335"/>
                </a:lnSpc>
                <a:buFont typeface="Arial"/>
                <a:buChar char="•"/>
              </a:pPr>
              <a:r>
                <a:rPr lang="en-US" b="true" sz="1844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Emitir alertas preventivos com 4 a 6 horas de antecedência antes de eventos de inundação, permitindo ações preventivas.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5662559"/>
              <a:ext cx="1951378" cy="11530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47"/>
                </a:lnSpc>
              </a:pPr>
              <a:r>
                <a:rPr lang="en-US" b="true" sz="5318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grpSp>
          <p:nvGrpSpPr>
            <p:cNvPr name="Group 36" id="36"/>
            <p:cNvGrpSpPr/>
            <p:nvPr/>
          </p:nvGrpSpPr>
          <p:grpSpPr>
            <a:xfrm rot="0">
              <a:off x="2536792" y="5738759"/>
              <a:ext cx="19318640" cy="2249810"/>
              <a:chOff x="0" y="0"/>
              <a:chExt cx="20789780" cy="2421136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0789779" cy="2421128"/>
              </a:xfrm>
              <a:custGeom>
                <a:avLst/>
                <a:gdLst/>
                <a:ahLst/>
                <a:cxnLst/>
                <a:rect r="r" b="b" t="t" l="l"/>
                <a:pathLst>
                  <a:path h="2421128" w="20789779">
                    <a:moveTo>
                      <a:pt x="0" y="0"/>
                    </a:moveTo>
                    <a:lnTo>
                      <a:pt x="20789779" y="0"/>
                    </a:lnTo>
                    <a:lnTo>
                      <a:pt x="20789779" y="2421128"/>
                    </a:lnTo>
                    <a:lnTo>
                      <a:pt x="0" y="2421128"/>
                    </a:lnTo>
                    <a:close/>
                  </a:path>
                </a:pathLst>
              </a:custGeom>
              <a:solidFill>
                <a:srgbClr val="3498DB">
                  <a:alpha val="0"/>
                </a:srgbClr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2536792" y="5738759"/>
              <a:ext cx="78055" cy="2249810"/>
              <a:chOff x="0" y="0"/>
              <a:chExt cx="83999" cy="2421136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3999" cy="2421128"/>
              </a:xfrm>
              <a:custGeom>
                <a:avLst/>
                <a:gdLst/>
                <a:ahLst/>
                <a:cxnLst/>
                <a:rect r="r" b="b" t="t" l="l"/>
                <a:pathLst>
                  <a:path h="2421128" w="83999">
                    <a:moveTo>
                      <a:pt x="0" y="0"/>
                    </a:moveTo>
                    <a:lnTo>
                      <a:pt x="83999" y="0"/>
                    </a:lnTo>
                    <a:lnTo>
                      <a:pt x="83999" y="2421128"/>
                    </a:lnTo>
                    <a:lnTo>
                      <a:pt x="0" y="2421128"/>
                    </a:lnTo>
                    <a:close/>
                  </a:path>
                </a:pathLst>
              </a:custGeom>
              <a:solidFill>
                <a:srgbClr val="3498DB"/>
              </a:solidFill>
            </p:spPr>
          </p:sp>
        </p:grpSp>
        <p:sp>
          <p:nvSpPr>
            <p:cNvPr name="TextBox 40" id="40"/>
            <p:cNvSpPr txBox="true"/>
            <p:nvPr/>
          </p:nvSpPr>
          <p:spPr>
            <a:xfrm rot="0">
              <a:off x="3024635" y="5940398"/>
              <a:ext cx="18342950" cy="544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32"/>
                </a:lnSpc>
              </a:pPr>
              <a:r>
                <a:rPr lang="en-US" b="true" sz="1978" spc="3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Resultado Esperado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024635" y="6462605"/>
              <a:ext cx="18342950" cy="521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98282" indent="-199141" lvl="1">
                <a:lnSpc>
                  <a:spcPts val="3335"/>
                </a:lnSpc>
                <a:buFont typeface="Arial"/>
                <a:buChar char="•"/>
              </a:pPr>
              <a:r>
                <a:rPr lang="en-US" b="true" sz="1844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Redução de perdas humanas e materiais e aumento da resiliência urbana em Luanda e outras cidades de Angola.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2956" y="1468030"/>
            <a:ext cx="6453046" cy="948447"/>
            <a:chOff x="0" y="0"/>
            <a:chExt cx="8604062" cy="12645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8578723" cy="1239139"/>
            </a:xfrm>
            <a:custGeom>
              <a:avLst/>
              <a:gdLst/>
              <a:ahLst/>
              <a:cxnLst/>
              <a:rect r="r" b="b" t="t" l="l"/>
              <a:pathLst>
                <a:path h="1239139" w="8578723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2956" y="1280569"/>
            <a:ext cx="11653162" cy="1323369"/>
            <a:chOff x="0" y="0"/>
            <a:chExt cx="15537550" cy="17644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37551" cy="1764492"/>
            </a:xfrm>
            <a:custGeom>
              <a:avLst/>
              <a:gdLst/>
              <a:ahLst/>
              <a:cxnLst/>
              <a:rect r="r" b="b" t="t" l="l"/>
              <a:pathLst>
                <a:path h="1764492" w="15537551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15537550" cy="1707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27"/>
                </a:lnSpc>
              </a:pPr>
              <a:r>
                <a:rPr lang="en-US" b="true" sz="5025" spc="2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Relação com ODS</a:t>
              </a: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682956" y="744174"/>
            <a:ext cx="2921214" cy="248720"/>
            <a:chOff x="0" y="0"/>
            <a:chExt cx="3894952" cy="331626"/>
          </a:xfrm>
        </p:grpSpPr>
        <p:sp>
          <p:nvSpPr>
            <p:cNvPr name="Freeform 8" id="8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t="0" r="-2067" b="-8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10" id="10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t="0" r="-582" b="5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12" id="12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" r="0" b="-227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13" b="3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682956" y="2603938"/>
            <a:ext cx="6646758" cy="7143750"/>
            <a:chOff x="0" y="0"/>
            <a:chExt cx="8862344" cy="95250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8862314" cy="9525000"/>
            </a:xfrm>
            <a:custGeom>
              <a:avLst/>
              <a:gdLst/>
              <a:ahLst/>
              <a:cxnLst/>
              <a:rect r="r" b="b" t="t" l="l"/>
              <a:pathLst>
                <a:path h="9525000" w="8862314">
                  <a:moveTo>
                    <a:pt x="0" y="0"/>
                  </a:moveTo>
                  <a:lnTo>
                    <a:pt x="8862314" y="0"/>
                  </a:lnTo>
                  <a:lnTo>
                    <a:pt x="8862314" y="9525000"/>
                  </a:lnTo>
                  <a:lnTo>
                    <a:pt x="0" y="952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84" t="0" r="-84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97268" y="9090462"/>
            <a:ext cx="3275744" cy="442912"/>
            <a:chOff x="0" y="0"/>
            <a:chExt cx="4367659" cy="5905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67657" cy="590550"/>
            </a:xfrm>
            <a:custGeom>
              <a:avLst/>
              <a:gdLst/>
              <a:ahLst/>
              <a:cxnLst/>
              <a:rect r="r" b="b" t="t" l="l"/>
              <a:pathLst>
                <a:path h="590550" w="4367657">
                  <a:moveTo>
                    <a:pt x="0" y="0"/>
                  </a:moveTo>
                  <a:lnTo>
                    <a:pt x="4367657" y="0"/>
                  </a:lnTo>
                  <a:lnTo>
                    <a:pt x="4367657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201F7C">
                <a:alpha val="80784"/>
              </a:srgbClr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16394" y="9120434"/>
            <a:ext cx="3037492" cy="237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b="true" sz="1367" spc="2">
                <a:solidFill>
                  <a:srgbClr val="FDFD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Ciclo de Gestão de Desastres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44088" y="2461063"/>
            <a:ext cx="8640868" cy="81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b="true" sz="3616">
                <a:solidFill>
                  <a:srgbClr val="FF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Contribuição para os ODS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415638" y="4053349"/>
            <a:ext cx="4920480" cy="2212076"/>
            <a:chOff x="0" y="0"/>
            <a:chExt cx="6560640" cy="2949434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6560640" cy="2949434"/>
              <a:chOff x="0" y="0"/>
              <a:chExt cx="5608141" cy="252122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5608193" cy="2521204"/>
              </a:xfrm>
              <a:custGeom>
                <a:avLst/>
                <a:gdLst/>
                <a:ahLst/>
                <a:cxnLst/>
                <a:rect r="r" b="b" t="t" l="l"/>
                <a:pathLst>
                  <a:path h="2521204" w="5608193">
                    <a:moveTo>
                      <a:pt x="0" y="0"/>
                    </a:moveTo>
                    <a:lnTo>
                      <a:pt x="5608193" y="0"/>
                    </a:lnTo>
                    <a:lnTo>
                      <a:pt x="5608193" y="2521204"/>
                    </a:lnTo>
                    <a:lnTo>
                      <a:pt x="0" y="2521204"/>
                    </a:lnTo>
                    <a:close/>
                  </a:path>
                </a:pathLst>
              </a:custGeom>
              <a:solidFill>
                <a:srgbClr val="3BCEAC">
                  <a:alpha val="392"/>
                </a:srgbClr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0"/>
              <a:ext cx="89142" cy="2949434"/>
              <a:chOff x="0" y="0"/>
              <a:chExt cx="76200" cy="2521224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76200" cy="2521204"/>
              </a:xfrm>
              <a:custGeom>
                <a:avLst/>
                <a:gdLst/>
                <a:ahLst/>
                <a:cxnLst/>
                <a:rect r="r" b="b" t="t" l="l"/>
                <a:pathLst>
                  <a:path h="2521204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2521204"/>
                    </a:lnTo>
                    <a:lnTo>
                      <a:pt x="0" y="2521204"/>
                    </a:lnTo>
                    <a:close/>
                  </a:path>
                </a:pathLst>
              </a:custGeom>
              <a:solidFill>
                <a:srgbClr val="3BCEAC"/>
              </a:solidFill>
            </p:spPr>
          </p:sp>
        </p:grpSp>
        <p:sp>
          <p:nvSpPr>
            <p:cNvPr name="TextBox 30" id="30"/>
            <p:cNvSpPr txBox="true"/>
            <p:nvPr/>
          </p:nvSpPr>
          <p:spPr>
            <a:xfrm rot="0">
              <a:off x="401140" y="305890"/>
              <a:ext cx="5758362" cy="534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02"/>
                </a:lnSpc>
              </a:pPr>
              <a:r>
                <a:rPr lang="en-US" b="true" sz="2185" spc="3">
                  <a:solidFill>
                    <a:srgbClr val="2B25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ODS 11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401140" y="905263"/>
              <a:ext cx="5758362" cy="47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50"/>
                </a:lnSpc>
              </a:pPr>
              <a:r>
                <a:rPr lang="en-US" b="true" sz="183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Cidades Sustentáveis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401140" y="1564860"/>
              <a:ext cx="5758362" cy="962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55"/>
                </a:lnSpc>
              </a:pPr>
              <a:r>
                <a:rPr lang="en-US" sz="1810">
                  <a:solidFill>
                    <a:srgbClr val="000000">
                      <a:alpha val="94902"/>
                    </a:srgbClr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Aumenta a </a:t>
              </a:r>
              <a:r>
                <a:rPr lang="en-US" b="true" sz="1810">
                  <a:solidFill>
                    <a:srgbClr val="000000">
                      <a:alpha val="94902"/>
                    </a:srgbClr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resiliência urbana</a:t>
              </a:r>
              <a:r>
                <a:rPr lang="en-US" sz="1810">
                  <a:solidFill>
                    <a:srgbClr val="000000">
                      <a:alpha val="94902"/>
                    </a:srgbClr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a desastres naturais.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596719" y="4045567"/>
            <a:ext cx="4937855" cy="2219857"/>
            <a:chOff x="0" y="0"/>
            <a:chExt cx="6583806" cy="2959809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6583806" cy="2959809"/>
              <a:chOff x="0" y="0"/>
              <a:chExt cx="5608216" cy="2521224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5608193" cy="2521204"/>
              </a:xfrm>
              <a:custGeom>
                <a:avLst/>
                <a:gdLst/>
                <a:ahLst/>
                <a:cxnLst/>
                <a:rect r="r" b="b" t="t" l="l"/>
                <a:pathLst>
                  <a:path h="2521204" w="5608193">
                    <a:moveTo>
                      <a:pt x="0" y="0"/>
                    </a:moveTo>
                    <a:lnTo>
                      <a:pt x="5608193" y="0"/>
                    </a:lnTo>
                    <a:lnTo>
                      <a:pt x="5608193" y="2521204"/>
                    </a:lnTo>
                    <a:lnTo>
                      <a:pt x="0" y="2521204"/>
                    </a:lnTo>
                    <a:close/>
                  </a:path>
                </a:pathLst>
              </a:custGeom>
              <a:solidFill>
                <a:srgbClr val="FEA82F">
                  <a:alpha val="392"/>
                </a:srgbClr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0"/>
              <a:ext cx="89456" cy="2959809"/>
              <a:chOff x="0" y="0"/>
              <a:chExt cx="76200" cy="2521224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76200" cy="2521204"/>
              </a:xfrm>
              <a:custGeom>
                <a:avLst/>
                <a:gdLst/>
                <a:ahLst/>
                <a:cxnLst/>
                <a:rect r="r" b="b" t="t" l="l"/>
                <a:pathLst>
                  <a:path h="2521204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2521204"/>
                    </a:lnTo>
                    <a:lnTo>
                      <a:pt x="0" y="2521204"/>
                    </a:lnTo>
                    <a:close/>
                  </a:path>
                </a:pathLst>
              </a:custGeom>
              <a:solidFill>
                <a:srgbClr val="FEA82F"/>
              </a:solidFill>
            </p:spPr>
          </p:sp>
        </p:grpSp>
        <p:sp>
          <p:nvSpPr>
            <p:cNvPr name="TextBox 38" id="38"/>
            <p:cNvSpPr txBox="true"/>
            <p:nvPr/>
          </p:nvSpPr>
          <p:spPr>
            <a:xfrm rot="0">
              <a:off x="402552" y="307302"/>
              <a:ext cx="5778706" cy="5355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3"/>
                </a:lnSpc>
              </a:pPr>
              <a:r>
                <a:rPr lang="en-US" b="true" sz="2192" spc="3">
                  <a:solidFill>
                    <a:srgbClr val="2B25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ODS 13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402552" y="908849"/>
              <a:ext cx="5778706" cy="4785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60"/>
                </a:lnSpc>
              </a:pPr>
              <a:r>
                <a:rPr lang="en-US" b="true" sz="1838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Ação Climática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402552" y="1570767"/>
              <a:ext cx="5778706" cy="965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65"/>
                </a:lnSpc>
              </a:pPr>
              <a:r>
                <a:rPr lang="en-US" sz="1817">
                  <a:solidFill>
                    <a:srgbClr val="000000">
                      <a:alpha val="94902"/>
                    </a:srgbClr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Promove </a:t>
              </a:r>
              <a:r>
                <a:rPr lang="en-US" b="true" sz="1817">
                  <a:solidFill>
                    <a:srgbClr val="000000">
                      <a:alpha val="94902"/>
                    </a:srgbClr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adaptação</a:t>
              </a:r>
              <a:r>
                <a:rPr lang="en-US" sz="1817">
                  <a:solidFill>
                    <a:srgbClr val="000000">
                      <a:alpha val="94902"/>
                    </a:srgbClr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aos impactos das mudanças climáticas.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415638" y="6994827"/>
            <a:ext cx="4948883" cy="2224845"/>
            <a:chOff x="0" y="0"/>
            <a:chExt cx="6598511" cy="2966460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6598511" cy="2966460"/>
              <a:chOff x="0" y="0"/>
              <a:chExt cx="5608141" cy="2521224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5608193" cy="2521204"/>
              </a:xfrm>
              <a:custGeom>
                <a:avLst/>
                <a:gdLst/>
                <a:ahLst/>
                <a:cxnLst/>
                <a:rect r="r" b="b" t="t" l="l"/>
                <a:pathLst>
                  <a:path h="2521204" w="5608193">
                    <a:moveTo>
                      <a:pt x="0" y="0"/>
                    </a:moveTo>
                    <a:lnTo>
                      <a:pt x="5608193" y="0"/>
                    </a:lnTo>
                    <a:lnTo>
                      <a:pt x="5608193" y="2521204"/>
                    </a:lnTo>
                    <a:lnTo>
                      <a:pt x="0" y="2521204"/>
                    </a:lnTo>
                    <a:close/>
                  </a:path>
                </a:pathLst>
              </a:custGeom>
              <a:solidFill>
                <a:srgbClr val="201F7C">
                  <a:alpha val="392"/>
                </a:srgbClr>
              </a:solidFill>
            </p:spPr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0"/>
              <a:ext cx="89657" cy="2966460"/>
              <a:chOff x="0" y="0"/>
              <a:chExt cx="76200" cy="2521224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76200" cy="2521204"/>
              </a:xfrm>
              <a:custGeom>
                <a:avLst/>
                <a:gdLst/>
                <a:ahLst/>
                <a:cxnLst/>
                <a:rect r="r" b="b" t="t" l="l"/>
                <a:pathLst>
                  <a:path h="2521204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2521204"/>
                    </a:lnTo>
                    <a:lnTo>
                      <a:pt x="0" y="2521204"/>
                    </a:lnTo>
                    <a:close/>
                  </a:path>
                </a:pathLst>
              </a:custGeom>
              <a:solidFill>
                <a:srgbClr val="201F7C"/>
              </a:solidFill>
            </p:spPr>
          </p:sp>
        </p:grpSp>
        <p:sp>
          <p:nvSpPr>
            <p:cNvPr name="TextBox 46" id="46"/>
            <p:cNvSpPr txBox="true"/>
            <p:nvPr/>
          </p:nvSpPr>
          <p:spPr>
            <a:xfrm rot="0">
              <a:off x="403456" y="308203"/>
              <a:ext cx="5791602" cy="536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b="true" sz="2197" spc="3">
                  <a:solidFill>
                    <a:srgbClr val="2B25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ODS 3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403456" y="911145"/>
              <a:ext cx="5791602" cy="479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67"/>
                </a:lnSpc>
              </a:pPr>
              <a:r>
                <a:rPr lang="en-US" b="true" sz="1842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Saúde e Bem-Estar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403456" y="1574553"/>
              <a:ext cx="5791602" cy="9672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2"/>
                </a:lnSpc>
              </a:pPr>
              <a:r>
                <a:rPr lang="en-US" sz="1821">
                  <a:solidFill>
                    <a:srgbClr val="000000">
                      <a:alpha val="94902"/>
                    </a:srgbClr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Previne </a:t>
              </a:r>
              <a:r>
                <a:rPr lang="en-US" b="true" sz="1821">
                  <a:solidFill>
                    <a:srgbClr val="000000">
                      <a:alpha val="94902"/>
                    </a:srgbClr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mortes e doenças</a:t>
              </a:r>
              <a:r>
                <a:rPr lang="en-US" sz="1821">
                  <a:solidFill>
                    <a:srgbClr val="000000">
                      <a:alpha val="94902"/>
                    </a:srgbClr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relacionadas a enchentes.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632121" y="6994827"/>
            <a:ext cx="4920542" cy="2212074"/>
            <a:chOff x="0" y="0"/>
            <a:chExt cx="6560723" cy="2949432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6560723" cy="2949432"/>
              <a:chOff x="0" y="0"/>
              <a:chExt cx="5608216" cy="2521224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5608193" cy="2521204"/>
              </a:xfrm>
              <a:custGeom>
                <a:avLst/>
                <a:gdLst/>
                <a:ahLst/>
                <a:cxnLst/>
                <a:rect r="r" b="b" t="t" l="l"/>
                <a:pathLst>
                  <a:path h="2521204" w="5608193">
                    <a:moveTo>
                      <a:pt x="0" y="0"/>
                    </a:moveTo>
                    <a:lnTo>
                      <a:pt x="5608193" y="0"/>
                    </a:lnTo>
                    <a:lnTo>
                      <a:pt x="5608193" y="2521204"/>
                    </a:lnTo>
                    <a:lnTo>
                      <a:pt x="0" y="2521204"/>
                    </a:lnTo>
                    <a:close/>
                  </a:path>
                </a:pathLst>
              </a:custGeom>
              <a:solidFill>
                <a:srgbClr val="3BCEAC">
                  <a:alpha val="392"/>
                </a:srgbClr>
              </a:solidFill>
            </p:spPr>
          </p:sp>
        </p:grpSp>
        <p:grpSp>
          <p:nvGrpSpPr>
            <p:cNvPr name="Group 52" id="52"/>
            <p:cNvGrpSpPr/>
            <p:nvPr/>
          </p:nvGrpSpPr>
          <p:grpSpPr>
            <a:xfrm rot="0">
              <a:off x="0" y="0"/>
              <a:ext cx="89142" cy="2949432"/>
              <a:chOff x="0" y="0"/>
              <a:chExt cx="76200" cy="2521224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76200" cy="2521204"/>
              </a:xfrm>
              <a:custGeom>
                <a:avLst/>
                <a:gdLst/>
                <a:ahLst/>
                <a:cxnLst/>
                <a:rect r="r" b="b" t="t" l="l"/>
                <a:pathLst>
                  <a:path h="2521204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2521204"/>
                    </a:lnTo>
                    <a:lnTo>
                      <a:pt x="0" y="2521204"/>
                    </a:lnTo>
                    <a:close/>
                  </a:path>
                </a:pathLst>
              </a:custGeom>
              <a:solidFill>
                <a:srgbClr val="3BCEAC"/>
              </a:solidFill>
            </p:spPr>
          </p:sp>
        </p:grpSp>
        <p:sp>
          <p:nvSpPr>
            <p:cNvPr name="TextBox 54" id="54"/>
            <p:cNvSpPr txBox="true"/>
            <p:nvPr/>
          </p:nvSpPr>
          <p:spPr>
            <a:xfrm rot="0">
              <a:off x="401140" y="305887"/>
              <a:ext cx="5758446" cy="534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02"/>
                </a:lnSpc>
              </a:pPr>
              <a:r>
                <a:rPr lang="en-US" b="true" sz="2185" spc="3">
                  <a:solidFill>
                    <a:srgbClr val="2B25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ODS 1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401140" y="905259"/>
              <a:ext cx="5758446" cy="47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50"/>
                </a:lnSpc>
              </a:pPr>
              <a:r>
                <a:rPr lang="en-US" b="true" sz="183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Erradicação da Pobreza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401140" y="1564859"/>
              <a:ext cx="5758446" cy="962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55"/>
                </a:lnSpc>
              </a:pPr>
              <a:r>
                <a:rPr lang="en-US" sz="1810">
                  <a:solidFill>
                    <a:srgbClr val="000000">
                      <a:alpha val="94902"/>
                    </a:srgbClr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Protege </a:t>
              </a:r>
              <a:r>
                <a:rPr lang="en-US" b="true" sz="1810">
                  <a:solidFill>
                    <a:srgbClr val="000000">
                      <a:alpha val="94902"/>
                    </a:srgbClr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famílias vulneráveis</a:t>
              </a:r>
              <a:r>
                <a:rPr lang="en-US" sz="1810">
                  <a:solidFill>
                    <a:srgbClr val="000000">
                      <a:alpha val="94902"/>
                    </a:srgbClr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em áreas de risco.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238963" y="1974824"/>
            <a:ext cx="18324701" cy="8321702"/>
            <a:chOff x="0" y="0"/>
            <a:chExt cx="24432934" cy="11095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407495" cy="11070209"/>
            </a:xfrm>
            <a:custGeom>
              <a:avLst/>
              <a:gdLst/>
              <a:ahLst/>
              <a:cxnLst/>
              <a:rect r="r" b="b" t="t" l="l"/>
              <a:pathLst>
                <a:path h="11070209" w="24407495">
                  <a:moveTo>
                    <a:pt x="0" y="0"/>
                  </a:moveTo>
                  <a:lnTo>
                    <a:pt x="24407495" y="0"/>
                  </a:lnTo>
                  <a:lnTo>
                    <a:pt x="24407495" y="11070209"/>
                  </a:lnTo>
                  <a:lnTo>
                    <a:pt x="0" y="11070209"/>
                  </a:lnTo>
                  <a:close/>
                </a:path>
              </a:pathLst>
            </a:custGeom>
            <a:solidFill>
              <a:srgbClr val="4617D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32895" cy="11095609"/>
            </a:xfrm>
            <a:custGeom>
              <a:avLst/>
              <a:gdLst/>
              <a:ahLst/>
              <a:cxnLst/>
              <a:rect r="r" b="b" t="t" l="l"/>
              <a:pathLst>
                <a:path h="11095609" w="24432895">
                  <a:moveTo>
                    <a:pt x="12700" y="0"/>
                  </a:moveTo>
                  <a:lnTo>
                    <a:pt x="24420195" y="0"/>
                  </a:lnTo>
                  <a:cubicBezTo>
                    <a:pt x="24427180" y="0"/>
                    <a:pt x="24432895" y="5715"/>
                    <a:pt x="24432895" y="12700"/>
                  </a:cubicBezTo>
                  <a:lnTo>
                    <a:pt x="24432895" y="11082909"/>
                  </a:lnTo>
                  <a:cubicBezTo>
                    <a:pt x="24432895" y="11089894"/>
                    <a:pt x="24427180" y="11095609"/>
                    <a:pt x="24420195" y="11095609"/>
                  </a:cubicBezTo>
                  <a:lnTo>
                    <a:pt x="12700" y="11095609"/>
                  </a:lnTo>
                  <a:cubicBezTo>
                    <a:pt x="5715" y="11095609"/>
                    <a:pt x="0" y="11089894"/>
                    <a:pt x="0" y="1108290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082909"/>
                  </a:lnTo>
                  <a:lnTo>
                    <a:pt x="12700" y="11082909"/>
                  </a:lnTo>
                  <a:lnTo>
                    <a:pt x="12700" y="11070209"/>
                  </a:lnTo>
                  <a:lnTo>
                    <a:pt x="24420195" y="11070209"/>
                  </a:lnTo>
                  <a:lnTo>
                    <a:pt x="24420195" y="11082909"/>
                  </a:lnTo>
                  <a:lnTo>
                    <a:pt x="24407495" y="11082909"/>
                  </a:lnTo>
                  <a:lnTo>
                    <a:pt x="24407495" y="12700"/>
                  </a:lnTo>
                  <a:lnTo>
                    <a:pt x="24420195" y="12700"/>
                  </a:lnTo>
                  <a:lnTo>
                    <a:pt x="244201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4617DE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127473" y="572394"/>
            <a:ext cx="1777568" cy="877906"/>
            <a:chOff x="0" y="0"/>
            <a:chExt cx="2370090" cy="1170542"/>
          </a:xfrm>
        </p:grpSpPr>
        <p:sp>
          <p:nvSpPr>
            <p:cNvPr name="Freeform 6" id="6" descr="Picture 7"/>
            <p:cNvSpPr/>
            <p:nvPr/>
          </p:nvSpPr>
          <p:spPr>
            <a:xfrm flipH="false" flipV="false" rot="0">
              <a:off x="0" y="0"/>
              <a:ext cx="2370074" cy="1170559"/>
            </a:xfrm>
            <a:custGeom>
              <a:avLst/>
              <a:gdLst/>
              <a:ahLst/>
              <a:cxnLst/>
              <a:rect r="r" b="b" t="t" l="l"/>
              <a:pathLst>
                <a:path h="1170559" w="2370074">
                  <a:moveTo>
                    <a:pt x="0" y="0"/>
                  </a:moveTo>
                  <a:lnTo>
                    <a:pt x="2370074" y="0"/>
                  </a:lnTo>
                  <a:lnTo>
                    <a:pt x="2370074" y="1170559"/>
                  </a:lnTo>
                  <a:lnTo>
                    <a:pt x="0" y="117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1" t="0" r="-562" b="1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3445664" y="434190"/>
            <a:ext cx="1458211" cy="1119732"/>
            <a:chOff x="0" y="0"/>
            <a:chExt cx="1944282" cy="1492976"/>
          </a:xfrm>
        </p:grpSpPr>
        <p:sp>
          <p:nvSpPr>
            <p:cNvPr name="Freeform 8" id="8" descr="Picture 9"/>
            <p:cNvSpPr/>
            <p:nvPr/>
          </p:nvSpPr>
          <p:spPr>
            <a:xfrm flipH="false" flipV="false" rot="0">
              <a:off x="0" y="0"/>
              <a:ext cx="1944243" cy="1493012"/>
            </a:xfrm>
            <a:custGeom>
              <a:avLst/>
              <a:gdLst/>
              <a:ahLst/>
              <a:cxnLst/>
              <a:rect r="r" b="b" t="t" l="l"/>
              <a:pathLst>
                <a:path h="1493012" w="1944243">
                  <a:moveTo>
                    <a:pt x="0" y="0"/>
                  </a:moveTo>
                  <a:lnTo>
                    <a:pt x="1944243" y="0"/>
                  </a:lnTo>
                  <a:lnTo>
                    <a:pt x="1944243" y="1493012"/>
                  </a:lnTo>
                  <a:lnTo>
                    <a:pt x="0" y="149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" t="0" r="-109" b="2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7201592" y="146404"/>
            <a:ext cx="808054" cy="1617030"/>
            <a:chOff x="0" y="0"/>
            <a:chExt cx="1077406" cy="2156040"/>
          </a:xfrm>
        </p:grpSpPr>
        <p:sp>
          <p:nvSpPr>
            <p:cNvPr name="Freeform 10" id="10" descr="pasted-movie.png"/>
            <p:cNvSpPr/>
            <p:nvPr/>
          </p:nvSpPr>
          <p:spPr>
            <a:xfrm flipH="false" flipV="false" rot="0">
              <a:off x="0" y="0"/>
              <a:ext cx="1077468" cy="2156079"/>
            </a:xfrm>
            <a:custGeom>
              <a:avLst/>
              <a:gdLst/>
              <a:ahLst/>
              <a:cxnLst/>
              <a:rect r="r" b="b" t="t" l="l"/>
              <a:pathLst>
                <a:path h="2156079" w="1077468">
                  <a:moveTo>
                    <a:pt x="0" y="0"/>
                  </a:moveTo>
                  <a:lnTo>
                    <a:pt x="1077468" y="0"/>
                  </a:lnTo>
                  <a:lnTo>
                    <a:pt x="1077468" y="2156079"/>
                  </a:lnTo>
                  <a:lnTo>
                    <a:pt x="0" y="215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04" r="5" b="-602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1943321" y="366993"/>
            <a:ext cx="1380389" cy="1175602"/>
            <a:chOff x="0" y="0"/>
            <a:chExt cx="1840518" cy="1567470"/>
          </a:xfrm>
        </p:grpSpPr>
        <p:sp>
          <p:nvSpPr>
            <p:cNvPr name="Freeform 12" id="12" descr="pasted-movie.png"/>
            <p:cNvSpPr/>
            <p:nvPr/>
          </p:nvSpPr>
          <p:spPr>
            <a:xfrm flipH="false" flipV="false" rot="0">
              <a:off x="0" y="0"/>
              <a:ext cx="1840484" cy="1567434"/>
            </a:xfrm>
            <a:custGeom>
              <a:avLst/>
              <a:gdLst/>
              <a:ahLst/>
              <a:cxnLst/>
              <a:rect r="r" b="b" t="t" l="l"/>
              <a:pathLst>
                <a:path h="1567434" w="1840484">
                  <a:moveTo>
                    <a:pt x="0" y="0"/>
                  </a:moveTo>
                  <a:lnTo>
                    <a:pt x="1840484" y="0"/>
                  </a:lnTo>
                  <a:lnTo>
                    <a:pt x="1840484" y="1567434"/>
                  </a:lnTo>
                  <a:lnTo>
                    <a:pt x="0" y="1567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378" t="-31606" r="-19623" b="-31609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5003453" y="7913580"/>
            <a:ext cx="3394872" cy="2414976"/>
            <a:chOff x="0" y="0"/>
            <a:chExt cx="4526496" cy="3219968"/>
          </a:xfrm>
        </p:grpSpPr>
        <p:sp>
          <p:nvSpPr>
            <p:cNvPr name="Freeform 14" id="14" descr="Image"/>
            <p:cNvSpPr/>
            <p:nvPr/>
          </p:nvSpPr>
          <p:spPr>
            <a:xfrm flipH="false" flipV="false" rot="0">
              <a:off x="0" y="0"/>
              <a:ext cx="4526534" cy="3219958"/>
            </a:xfrm>
            <a:custGeom>
              <a:avLst/>
              <a:gdLst/>
              <a:ahLst/>
              <a:cxnLst/>
              <a:rect r="r" b="b" t="t" l="l"/>
              <a:pathLst>
                <a:path h="3219958" w="4526534">
                  <a:moveTo>
                    <a:pt x="0" y="0"/>
                  </a:moveTo>
                  <a:lnTo>
                    <a:pt x="4526534" y="0"/>
                  </a:lnTo>
                  <a:lnTo>
                    <a:pt x="4526534" y="3219958"/>
                  </a:lnTo>
                  <a:lnTo>
                    <a:pt x="0" y="321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73" t="0" r="-16160" b="-51433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2061220" y="3067194"/>
            <a:ext cx="6380205" cy="6194822"/>
            <a:chOff x="0" y="0"/>
            <a:chExt cx="8506940" cy="8259762"/>
          </a:xfrm>
        </p:grpSpPr>
        <p:sp>
          <p:nvSpPr>
            <p:cNvPr name="Freeform 16" id="16" descr="Image"/>
            <p:cNvSpPr/>
            <p:nvPr/>
          </p:nvSpPr>
          <p:spPr>
            <a:xfrm flipH="false" flipV="false" rot="0">
              <a:off x="0" y="0"/>
              <a:ext cx="8506968" cy="8259699"/>
            </a:xfrm>
            <a:custGeom>
              <a:avLst/>
              <a:gdLst/>
              <a:ahLst/>
              <a:cxnLst/>
              <a:rect r="r" b="b" t="t" l="l"/>
              <a:pathLst>
                <a:path h="8259699" w="8506968">
                  <a:moveTo>
                    <a:pt x="0" y="0"/>
                  </a:moveTo>
                  <a:lnTo>
                    <a:pt x="8506968" y="0"/>
                  </a:lnTo>
                  <a:lnTo>
                    <a:pt x="8506968" y="8259699"/>
                  </a:lnTo>
                  <a:lnTo>
                    <a:pt x="0" y="82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5" r="0" b="-1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812947" y="4974724"/>
            <a:ext cx="8723645" cy="9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9"/>
              </a:lnSpc>
            </a:pPr>
            <a:r>
              <a:rPr lang="en-US" b="true" sz="5550" spc="22">
                <a:solidFill>
                  <a:srgbClr val="2B255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Dados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2956" y="1365230"/>
            <a:ext cx="10280729" cy="1105727"/>
            <a:chOff x="0" y="0"/>
            <a:chExt cx="11757842" cy="12645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7355" y="12700"/>
              <a:ext cx="11723215" cy="1239139"/>
            </a:xfrm>
            <a:custGeom>
              <a:avLst/>
              <a:gdLst/>
              <a:ahLst/>
              <a:cxnLst/>
              <a:rect r="r" b="b" t="t" l="l"/>
              <a:pathLst>
                <a:path h="1239139" w="11723215">
                  <a:moveTo>
                    <a:pt x="0" y="0"/>
                  </a:moveTo>
                  <a:lnTo>
                    <a:pt x="11723215" y="0"/>
                  </a:lnTo>
                  <a:lnTo>
                    <a:pt x="11723215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2956" y="1028700"/>
            <a:ext cx="10572701" cy="1825539"/>
            <a:chOff x="0" y="0"/>
            <a:chExt cx="14096934" cy="24340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96935" cy="2434053"/>
            </a:xfrm>
            <a:custGeom>
              <a:avLst/>
              <a:gdLst/>
              <a:ahLst/>
              <a:cxnLst/>
              <a:rect r="r" b="b" t="t" l="l"/>
              <a:pathLst>
                <a:path h="2434053" w="14096935">
                  <a:moveTo>
                    <a:pt x="0" y="0"/>
                  </a:moveTo>
                  <a:lnTo>
                    <a:pt x="14096935" y="0"/>
                  </a:lnTo>
                  <a:lnTo>
                    <a:pt x="14096935" y="2434053"/>
                  </a:lnTo>
                  <a:lnTo>
                    <a:pt x="0" y="24340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14096934" cy="2386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3"/>
                </a:lnSpc>
              </a:pPr>
              <a:r>
                <a:rPr lang="en-US" b="true" sz="4225" spc="16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Coleta e Pré-processamento de Dados</a:t>
              </a: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682956" y="744174"/>
            <a:ext cx="2921214" cy="248720"/>
            <a:chOff x="0" y="0"/>
            <a:chExt cx="3894952" cy="331626"/>
          </a:xfrm>
        </p:grpSpPr>
        <p:sp>
          <p:nvSpPr>
            <p:cNvPr name="Freeform 8" id="8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t="0" r="-2067" b="-8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10" id="10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t="0" r="-582" b="5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12" id="12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" r="0" b="-227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13" b="3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682956" y="3055181"/>
            <a:ext cx="7460457" cy="6035389"/>
            <a:chOff x="0" y="0"/>
            <a:chExt cx="8241731" cy="6667427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8241792" cy="6667373"/>
            </a:xfrm>
            <a:custGeom>
              <a:avLst/>
              <a:gdLst/>
              <a:ahLst/>
              <a:cxnLst/>
              <a:rect r="r" b="b" t="t" l="l"/>
              <a:pathLst>
                <a:path h="6667373" w="8241792">
                  <a:moveTo>
                    <a:pt x="0" y="0"/>
                  </a:moveTo>
                  <a:lnTo>
                    <a:pt x="8241792" y="0"/>
                  </a:lnTo>
                  <a:lnTo>
                    <a:pt x="8241792" y="6667373"/>
                  </a:lnTo>
                  <a:lnTo>
                    <a:pt x="0" y="6667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1" t="0" r="-4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303649" y="2632882"/>
            <a:ext cx="8639743" cy="2188196"/>
            <a:chOff x="0" y="0"/>
            <a:chExt cx="10191749" cy="25812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191750" cy="2581275"/>
            </a:xfrm>
            <a:custGeom>
              <a:avLst/>
              <a:gdLst/>
              <a:ahLst/>
              <a:cxnLst/>
              <a:rect r="r" b="b" t="t" l="l"/>
              <a:pathLst>
                <a:path h="2581275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2581275"/>
                  </a:lnTo>
                  <a:lnTo>
                    <a:pt x="0" y="2581275"/>
                  </a:lnTo>
                  <a:close/>
                </a:path>
              </a:pathLst>
            </a:custGeom>
            <a:solidFill>
              <a:srgbClr val="3498DB">
                <a:alpha val="0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303649" y="2632882"/>
            <a:ext cx="64596" cy="2188196"/>
            <a:chOff x="0" y="0"/>
            <a:chExt cx="76200" cy="25812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200" cy="2581275"/>
            </a:xfrm>
            <a:custGeom>
              <a:avLst/>
              <a:gdLst/>
              <a:ahLst/>
              <a:cxnLst/>
              <a:rect r="r" b="b" t="t" l="l"/>
              <a:pathLst>
                <a:path h="2581275" w="76200">
                  <a:moveTo>
                    <a:pt x="0" y="0"/>
                  </a:moveTo>
                  <a:lnTo>
                    <a:pt x="76200" y="0"/>
                  </a:lnTo>
                  <a:lnTo>
                    <a:pt x="76200" y="2581275"/>
                  </a:lnTo>
                  <a:lnTo>
                    <a:pt x="0" y="2581275"/>
                  </a:lnTo>
                  <a:close/>
                </a:path>
              </a:pathLst>
            </a:custGeom>
            <a:solidFill>
              <a:srgbClr val="3498DB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594331" y="2790214"/>
            <a:ext cx="8058377" cy="39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b="true" sz="1733" spc="2">
                <a:solidFill>
                  <a:srgbClr val="2B255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Fontes de Dados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94331" y="3234312"/>
            <a:ext cx="8058377" cy="129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176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Utilização de </a:t>
            </a:r>
            <a:r>
              <a:rPr lang="en-US" b="true" sz="176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dados históricos e simulados</a:t>
            </a:r>
            <a:r>
              <a:rPr lang="en-US" sz="176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eventos de inundação, combinados com variáveis meteorológicas (precipitação, temperatura, humidade) e geoespaciais (latitude, longitude, província).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303649" y="5144059"/>
            <a:ext cx="8639743" cy="2188196"/>
            <a:chOff x="0" y="0"/>
            <a:chExt cx="10191749" cy="258127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191750" cy="2581275"/>
            </a:xfrm>
            <a:custGeom>
              <a:avLst/>
              <a:gdLst/>
              <a:ahLst/>
              <a:cxnLst/>
              <a:rect r="r" b="b" t="t" l="l"/>
              <a:pathLst>
                <a:path h="2581275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2581275"/>
                  </a:lnTo>
                  <a:lnTo>
                    <a:pt x="0" y="2581275"/>
                  </a:lnTo>
                  <a:close/>
                </a:path>
              </a:pathLst>
            </a:custGeom>
            <a:solidFill>
              <a:srgbClr val="3498DB">
                <a:alpha val="0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303649" y="5144059"/>
            <a:ext cx="64596" cy="2188196"/>
            <a:chOff x="0" y="0"/>
            <a:chExt cx="76200" cy="25812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200" cy="2581275"/>
            </a:xfrm>
            <a:custGeom>
              <a:avLst/>
              <a:gdLst/>
              <a:ahLst/>
              <a:cxnLst/>
              <a:rect r="r" b="b" t="t" l="l"/>
              <a:pathLst>
                <a:path h="2581275" w="76200">
                  <a:moveTo>
                    <a:pt x="0" y="0"/>
                  </a:moveTo>
                  <a:lnTo>
                    <a:pt x="76200" y="0"/>
                  </a:lnTo>
                  <a:lnTo>
                    <a:pt x="76200" y="2581275"/>
                  </a:lnTo>
                  <a:lnTo>
                    <a:pt x="0" y="2581275"/>
                  </a:lnTo>
                  <a:close/>
                </a:path>
              </a:pathLst>
            </a:custGeom>
            <a:solidFill>
              <a:srgbClr val="3498DB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594331" y="5301391"/>
            <a:ext cx="8058377" cy="39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b="true" sz="1733" spc="2">
                <a:solidFill>
                  <a:srgbClr val="2B255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Pré-processamento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94331" y="5745492"/>
            <a:ext cx="8058377" cy="129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176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Tratamento de variáveis categóricas (como Província) com </a:t>
            </a:r>
            <a:r>
              <a:rPr lang="en-US" b="true" sz="176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Label Encoding</a:t>
            </a:r>
            <a:r>
              <a:rPr lang="en-US" sz="176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Normalização de variáveis contínuas para garantir que o modelo funcione de forma otimizada.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303649" y="7655237"/>
            <a:ext cx="8639743" cy="2188196"/>
            <a:chOff x="0" y="0"/>
            <a:chExt cx="10191749" cy="258127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91750" cy="2581275"/>
            </a:xfrm>
            <a:custGeom>
              <a:avLst/>
              <a:gdLst/>
              <a:ahLst/>
              <a:cxnLst/>
              <a:rect r="r" b="b" t="t" l="l"/>
              <a:pathLst>
                <a:path h="2581275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2581275"/>
                  </a:lnTo>
                  <a:lnTo>
                    <a:pt x="0" y="2581275"/>
                  </a:lnTo>
                  <a:close/>
                </a:path>
              </a:pathLst>
            </a:custGeom>
            <a:solidFill>
              <a:srgbClr val="3498DB">
                <a:alpha val="0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303649" y="7655237"/>
            <a:ext cx="64596" cy="2188196"/>
            <a:chOff x="0" y="0"/>
            <a:chExt cx="76200" cy="25812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6200" cy="2581275"/>
            </a:xfrm>
            <a:custGeom>
              <a:avLst/>
              <a:gdLst/>
              <a:ahLst/>
              <a:cxnLst/>
              <a:rect r="r" b="b" t="t" l="l"/>
              <a:pathLst>
                <a:path h="2581275" w="76200">
                  <a:moveTo>
                    <a:pt x="0" y="0"/>
                  </a:moveTo>
                  <a:lnTo>
                    <a:pt x="76200" y="0"/>
                  </a:lnTo>
                  <a:lnTo>
                    <a:pt x="76200" y="2581275"/>
                  </a:lnTo>
                  <a:lnTo>
                    <a:pt x="0" y="2581275"/>
                  </a:lnTo>
                  <a:close/>
                </a:path>
              </a:pathLst>
            </a:custGeom>
            <a:solidFill>
              <a:srgbClr val="3498DB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594331" y="7812571"/>
            <a:ext cx="8058377" cy="39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b="true" sz="1733" spc="2">
                <a:solidFill>
                  <a:srgbClr val="2B255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Integração de Dados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594331" y="8256670"/>
            <a:ext cx="8058377" cy="129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176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Demonstração da capacidade de integração com fontes externas, como a </a:t>
            </a:r>
            <a:r>
              <a:rPr lang="en-US" b="true" sz="176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API NASA POWER</a:t>
            </a:r>
            <a:r>
              <a:rPr lang="en-US" sz="176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para simular a alimentação de dados meteorológicos em tempo real.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238963" y="1974824"/>
            <a:ext cx="18324701" cy="8321702"/>
            <a:chOff x="0" y="0"/>
            <a:chExt cx="24432934" cy="11095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407495" cy="11070209"/>
            </a:xfrm>
            <a:custGeom>
              <a:avLst/>
              <a:gdLst/>
              <a:ahLst/>
              <a:cxnLst/>
              <a:rect r="r" b="b" t="t" l="l"/>
              <a:pathLst>
                <a:path h="11070209" w="24407495">
                  <a:moveTo>
                    <a:pt x="0" y="0"/>
                  </a:moveTo>
                  <a:lnTo>
                    <a:pt x="24407495" y="0"/>
                  </a:lnTo>
                  <a:lnTo>
                    <a:pt x="24407495" y="11070209"/>
                  </a:lnTo>
                  <a:lnTo>
                    <a:pt x="0" y="11070209"/>
                  </a:lnTo>
                  <a:close/>
                </a:path>
              </a:pathLst>
            </a:custGeom>
            <a:solidFill>
              <a:srgbClr val="4617D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32895" cy="11095609"/>
            </a:xfrm>
            <a:custGeom>
              <a:avLst/>
              <a:gdLst/>
              <a:ahLst/>
              <a:cxnLst/>
              <a:rect r="r" b="b" t="t" l="l"/>
              <a:pathLst>
                <a:path h="11095609" w="24432895">
                  <a:moveTo>
                    <a:pt x="12700" y="0"/>
                  </a:moveTo>
                  <a:lnTo>
                    <a:pt x="24420195" y="0"/>
                  </a:lnTo>
                  <a:cubicBezTo>
                    <a:pt x="24427180" y="0"/>
                    <a:pt x="24432895" y="5715"/>
                    <a:pt x="24432895" y="12700"/>
                  </a:cubicBezTo>
                  <a:lnTo>
                    <a:pt x="24432895" y="11082909"/>
                  </a:lnTo>
                  <a:cubicBezTo>
                    <a:pt x="24432895" y="11089894"/>
                    <a:pt x="24427180" y="11095609"/>
                    <a:pt x="24420195" y="11095609"/>
                  </a:cubicBezTo>
                  <a:lnTo>
                    <a:pt x="12700" y="11095609"/>
                  </a:lnTo>
                  <a:cubicBezTo>
                    <a:pt x="5715" y="11095609"/>
                    <a:pt x="0" y="11089894"/>
                    <a:pt x="0" y="1108290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082909"/>
                  </a:lnTo>
                  <a:lnTo>
                    <a:pt x="12700" y="11082909"/>
                  </a:lnTo>
                  <a:lnTo>
                    <a:pt x="12700" y="11070209"/>
                  </a:lnTo>
                  <a:lnTo>
                    <a:pt x="24420195" y="11070209"/>
                  </a:lnTo>
                  <a:lnTo>
                    <a:pt x="24420195" y="11082909"/>
                  </a:lnTo>
                  <a:lnTo>
                    <a:pt x="24407495" y="11082909"/>
                  </a:lnTo>
                  <a:lnTo>
                    <a:pt x="24407495" y="12700"/>
                  </a:lnTo>
                  <a:lnTo>
                    <a:pt x="24420195" y="12700"/>
                  </a:lnTo>
                  <a:lnTo>
                    <a:pt x="244201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4617DE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127473" y="572394"/>
            <a:ext cx="1777568" cy="877906"/>
            <a:chOff x="0" y="0"/>
            <a:chExt cx="2370090" cy="1170542"/>
          </a:xfrm>
        </p:grpSpPr>
        <p:sp>
          <p:nvSpPr>
            <p:cNvPr name="Freeform 6" id="6" descr="Picture 7"/>
            <p:cNvSpPr/>
            <p:nvPr/>
          </p:nvSpPr>
          <p:spPr>
            <a:xfrm flipH="false" flipV="false" rot="0">
              <a:off x="0" y="0"/>
              <a:ext cx="2370074" cy="1170559"/>
            </a:xfrm>
            <a:custGeom>
              <a:avLst/>
              <a:gdLst/>
              <a:ahLst/>
              <a:cxnLst/>
              <a:rect r="r" b="b" t="t" l="l"/>
              <a:pathLst>
                <a:path h="1170559" w="2370074">
                  <a:moveTo>
                    <a:pt x="0" y="0"/>
                  </a:moveTo>
                  <a:lnTo>
                    <a:pt x="2370074" y="0"/>
                  </a:lnTo>
                  <a:lnTo>
                    <a:pt x="2370074" y="1170559"/>
                  </a:lnTo>
                  <a:lnTo>
                    <a:pt x="0" y="117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1" t="0" r="-562" b="1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3445664" y="434190"/>
            <a:ext cx="1458211" cy="1119732"/>
            <a:chOff x="0" y="0"/>
            <a:chExt cx="1944282" cy="1492976"/>
          </a:xfrm>
        </p:grpSpPr>
        <p:sp>
          <p:nvSpPr>
            <p:cNvPr name="Freeform 8" id="8" descr="Picture 9"/>
            <p:cNvSpPr/>
            <p:nvPr/>
          </p:nvSpPr>
          <p:spPr>
            <a:xfrm flipH="false" flipV="false" rot="0">
              <a:off x="0" y="0"/>
              <a:ext cx="1944243" cy="1493012"/>
            </a:xfrm>
            <a:custGeom>
              <a:avLst/>
              <a:gdLst/>
              <a:ahLst/>
              <a:cxnLst/>
              <a:rect r="r" b="b" t="t" l="l"/>
              <a:pathLst>
                <a:path h="1493012" w="1944243">
                  <a:moveTo>
                    <a:pt x="0" y="0"/>
                  </a:moveTo>
                  <a:lnTo>
                    <a:pt x="1944243" y="0"/>
                  </a:lnTo>
                  <a:lnTo>
                    <a:pt x="1944243" y="1493012"/>
                  </a:lnTo>
                  <a:lnTo>
                    <a:pt x="0" y="149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" t="0" r="-109" b="2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7201592" y="146404"/>
            <a:ext cx="808054" cy="1617030"/>
            <a:chOff x="0" y="0"/>
            <a:chExt cx="1077406" cy="2156040"/>
          </a:xfrm>
        </p:grpSpPr>
        <p:sp>
          <p:nvSpPr>
            <p:cNvPr name="Freeform 10" id="10" descr="pasted-movie.png"/>
            <p:cNvSpPr/>
            <p:nvPr/>
          </p:nvSpPr>
          <p:spPr>
            <a:xfrm flipH="false" flipV="false" rot="0">
              <a:off x="0" y="0"/>
              <a:ext cx="1077468" cy="2156079"/>
            </a:xfrm>
            <a:custGeom>
              <a:avLst/>
              <a:gdLst/>
              <a:ahLst/>
              <a:cxnLst/>
              <a:rect r="r" b="b" t="t" l="l"/>
              <a:pathLst>
                <a:path h="2156079" w="1077468">
                  <a:moveTo>
                    <a:pt x="0" y="0"/>
                  </a:moveTo>
                  <a:lnTo>
                    <a:pt x="1077468" y="0"/>
                  </a:lnTo>
                  <a:lnTo>
                    <a:pt x="1077468" y="2156079"/>
                  </a:lnTo>
                  <a:lnTo>
                    <a:pt x="0" y="215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04" r="5" b="-602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1943321" y="366993"/>
            <a:ext cx="1380389" cy="1175602"/>
            <a:chOff x="0" y="0"/>
            <a:chExt cx="1840518" cy="1567470"/>
          </a:xfrm>
        </p:grpSpPr>
        <p:sp>
          <p:nvSpPr>
            <p:cNvPr name="Freeform 12" id="12" descr="pasted-movie.png"/>
            <p:cNvSpPr/>
            <p:nvPr/>
          </p:nvSpPr>
          <p:spPr>
            <a:xfrm flipH="false" flipV="false" rot="0">
              <a:off x="0" y="0"/>
              <a:ext cx="1840484" cy="1567434"/>
            </a:xfrm>
            <a:custGeom>
              <a:avLst/>
              <a:gdLst/>
              <a:ahLst/>
              <a:cxnLst/>
              <a:rect r="r" b="b" t="t" l="l"/>
              <a:pathLst>
                <a:path h="1567434" w="1840484">
                  <a:moveTo>
                    <a:pt x="0" y="0"/>
                  </a:moveTo>
                  <a:lnTo>
                    <a:pt x="1840484" y="0"/>
                  </a:lnTo>
                  <a:lnTo>
                    <a:pt x="1840484" y="1567434"/>
                  </a:lnTo>
                  <a:lnTo>
                    <a:pt x="0" y="1567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378" t="-31606" r="-19623" b="-31609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5003453" y="7913580"/>
            <a:ext cx="3394872" cy="2414976"/>
            <a:chOff x="0" y="0"/>
            <a:chExt cx="4526496" cy="3219968"/>
          </a:xfrm>
        </p:grpSpPr>
        <p:sp>
          <p:nvSpPr>
            <p:cNvPr name="Freeform 14" id="14" descr="Image"/>
            <p:cNvSpPr/>
            <p:nvPr/>
          </p:nvSpPr>
          <p:spPr>
            <a:xfrm flipH="false" flipV="false" rot="0">
              <a:off x="0" y="0"/>
              <a:ext cx="4526534" cy="3219958"/>
            </a:xfrm>
            <a:custGeom>
              <a:avLst/>
              <a:gdLst/>
              <a:ahLst/>
              <a:cxnLst/>
              <a:rect r="r" b="b" t="t" l="l"/>
              <a:pathLst>
                <a:path h="3219958" w="4526534">
                  <a:moveTo>
                    <a:pt x="0" y="0"/>
                  </a:moveTo>
                  <a:lnTo>
                    <a:pt x="4526534" y="0"/>
                  </a:lnTo>
                  <a:lnTo>
                    <a:pt x="4526534" y="3219958"/>
                  </a:lnTo>
                  <a:lnTo>
                    <a:pt x="0" y="321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73" t="0" r="-16160" b="-51433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2061220" y="3067194"/>
            <a:ext cx="6380205" cy="6194822"/>
            <a:chOff x="0" y="0"/>
            <a:chExt cx="8506940" cy="8259762"/>
          </a:xfrm>
        </p:grpSpPr>
        <p:sp>
          <p:nvSpPr>
            <p:cNvPr name="Freeform 16" id="16" descr="Image"/>
            <p:cNvSpPr/>
            <p:nvPr/>
          </p:nvSpPr>
          <p:spPr>
            <a:xfrm flipH="false" flipV="false" rot="0">
              <a:off x="0" y="0"/>
              <a:ext cx="8506968" cy="8259699"/>
            </a:xfrm>
            <a:custGeom>
              <a:avLst/>
              <a:gdLst/>
              <a:ahLst/>
              <a:cxnLst/>
              <a:rect r="r" b="b" t="t" l="l"/>
              <a:pathLst>
                <a:path h="8259699" w="8506968">
                  <a:moveTo>
                    <a:pt x="0" y="0"/>
                  </a:moveTo>
                  <a:lnTo>
                    <a:pt x="8506968" y="0"/>
                  </a:lnTo>
                  <a:lnTo>
                    <a:pt x="8506968" y="8259699"/>
                  </a:lnTo>
                  <a:lnTo>
                    <a:pt x="0" y="82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5" r="0" b="-1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812947" y="4974724"/>
            <a:ext cx="8723645" cy="9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9"/>
              </a:lnSpc>
            </a:pPr>
            <a:r>
              <a:rPr lang="en-US" b="true" sz="5550" spc="22">
                <a:solidFill>
                  <a:srgbClr val="2B255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Modelo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2956" y="1365230"/>
            <a:ext cx="10008188" cy="1276890"/>
            <a:chOff x="0" y="0"/>
            <a:chExt cx="13344250" cy="1702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13318871" cy="1677162"/>
            </a:xfrm>
            <a:custGeom>
              <a:avLst/>
              <a:gdLst/>
              <a:ahLst/>
              <a:cxnLst/>
              <a:rect r="r" b="b" t="t" l="l"/>
              <a:pathLst>
                <a:path h="1677162" w="13318871">
                  <a:moveTo>
                    <a:pt x="0" y="0"/>
                  </a:moveTo>
                  <a:lnTo>
                    <a:pt x="13318871" y="0"/>
                  </a:lnTo>
                  <a:lnTo>
                    <a:pt x="13318871" y="1677162"/>
                  </a:lnTo>
                  <a:lnTo>
                    <a:pt x="0" y="1677162"/>
                  </a:lnTo>
                  <a:close/>
                </a:path>
              </a:pathLst>
            </a:custGeom>
            <a:solidFill>
              <a:srgbClr val="FE2E4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2956" y="1365230"/>
            <a:ext cx="11653162" cy="1449228"/>
            <a:chOff x="0" y="0"/>
            <a:chExt cx="15537550" cy="19323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37551" cy="1932305"/>
            </a:xfrm>
            <a:custGeom>
              <a:avLst/>
              <a:gdLst/>
              <a:ahLst/>
              <a:cxnLst/>
              <a:rect r="r" b="b" t="t" l="l"/>
              <a:pathLst>
                <a:path h="1932305" w="15537551">
                  <a:moveTo>
                    <a:pt x="0" y="0"/>
                  </a:moveTo>
                  <a:lnTo>
                    <a:pt x="15537551" y="0"/>
                  </a:lnTo>
                  <a:lnTo>
                    <a:pt x="15537551" y="1932305"/>
                  </a:lnTo>
                  <a:lnTo>
                    <a:pt x="0" y="19323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38100"/>
              <a:ext cx="15537550" cy="1894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44"/>
                </a:lnSpc>
              </a:pPr>
              <a:r>
                <a:rPr lang="en-US" b="true" sz="4022" spc="16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Seleção e Treinamento do Modelo de Classificação de Risco</a:t>
              </a: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682956" y="744174"/>
            <a:ext cx="2921214" cy="248720"/>
            <a:chOff x="0" y="0"/>
            <a:chExt cx="3894952" cy="331626"/>
          </a:xfrm>
        </p:grpSpPr>
        <p:sp>
          <p:nvSpPr>
            <p:cNvPr name="Freeform 8" id="8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t="0" r="-2067" b="-8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10" id="10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t="0" r="-582" b="5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12" id="12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" r="0" b="-227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13" b="3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2956" y="2727844"/>
            <a:ext cx="6651716" cy="2194445"/>
            <a:chOff x="0" y="0"/>
            <a:chExt cx="10191749" cy="336232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91750" cy="3362325"/>
            </a:xfrm>
            <a:custGeom>
              <a:avLst/>
              <a:gdLst/>
              <a:ahLst/>
              <a:cxnLst/>
              <a:rect r="r" b="b" t="t" l="l"/>
              <a:pathLst>
                <a:path h="3362325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3362325"/>
                  </a:lnTo>
                  <a:lnTo>
                    <a:pt x="0" y="3362325"/>
                  </a:lnTo>
                  <a:close/>
                </a:path>
              </a:pathLst>
            </a:custGeom>
            <a:solidFill>
              <a:srgbClr val="3498DB">
                <a:alpha val="0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82956" y="2727844"/>
            <a:ext cx="49732" cy="2194445"/>
            <a:chOff x="0" y="0"/>
            <a:chExt cx="76200" cy="33623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200" cy="3362325"/>
            </a:xfrm>
            <a:custGeom>
              <a:avLst/>
              <a:gdLst/>
              <a:ahLst/>
              <a:cxnLst/>
              <a:rect r="r" b="b" t="t" l="l"/>
              <a:pathLst>
                <a:path h="3362325" w="76200">
                  <a:moveTo>
                    <a:pt x="0" y="0"/>
                  </a:moveTo>
                  <a:lnTo>
                    <a:pt x="76200" y="0"/>
                  </a:lnTo>
                  <a:lnTo>
                    <a:pt x="76200" y="3362325"/>
                  </a:lnTo>
                  <a:lnTo>
                    <a:pt x="0" y="3362325"/>
                  </a:lnTo>
                  <a:close/>
                </a:path>
              </a:pathLst>
            </a:custGeom>
            <a:solidFill>
              <a:srgbClr val="3498DB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31618" y="2843157"/>
            <a:ext cx="6154391" cy="40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8"/>
              </a:lnSpc>
            </a:pPr>
            <a:r>
              <a:rPr lang="en-US" b="true" sz="1803" spc="2">
                <a:solidFill>
                  <a:srgbClr val="2B255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Modelo Principal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1618" y="3228984"/>
            <a:ext cx="6154391" cy="44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540" b="true">
                <a:solidFill>
                  <a:srgbClr val="0A4C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Random Forest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1618" y="3654618"/>
            <a:ext cx="6154391" cy="111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65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Algoritmo de classificação binária de risco de inundação (Inundação/Sem Inundação), escolhido pela sua robustez e capacidade de lidar com dados não lineares.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82956" y="5195819"/>
            <a:ext cx="6651716" cy="2194445"/>
            <a:chOff x="0" y="0"/>
            <a:chExt cx="10191749" cy="33623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91750" cy="3362325"/>
            </a:xfrm>
            <a:custGeom>
              <a:avLst/>
              <a:gdLst/>
              <a:ahLst/>
              <a:cxnLst/>
              <a:rect r="r" b="b" t="t" l="l"/>
              <a:pathLst>
                <a:path h="3362325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3362325"/>
                  </a:lnTo>
                  <a:lnTo>
                    <a:pt x="0" y="3362325"/>
                  </a:lnTo>
                  <a:close/>
                </a:path>
              </a:pathLst>
            </a:custGeom>
            <a:solidFill>
              <a:srgbClr val="3498DB">
                <a:alpha val="0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82956" y="5195819"/>
            <a:ext cx="49732" cy="2194445"/>
            <a:chOff x="0" y="0"/>
            <a:chExt cx="76200" cy="33623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200" cy="3362325"/>
            </a:xfrm>
            <a:custGeom>
              <a:avLst/>
              <a:gdLst/>
              <a:ahLst/>
              <a:cxnLst/>
              <a:rect r="r" b="b" t="t" l="l"/>
              <a:pathLst>
                <a:path h="3362325" w="76200">
                  <a:moveTo>
                    <a:pt x="0" y="0"/>
                  </a:moveTo>
                  <a:lnTo>
                    <a:pt x="76200" y="0"/>
                  </a:lnTo>
                  <a:lnTo>
                    <a:pt x="76200" y="3362325"/>
                  </a:lnTo>
                  <a:lnTo>
                    <a:pt x="0" y="3362325"/>
                  </a:lnTo>
                  <a:close/>
                </a:path>
              </a:pathLst>
            </a:custGeom>
            <a:solidFill>
              <a:srgbClr val="3498DB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31618" y="5311131"/>
            <a:ext cx="6154391" cy="40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8"/>
              </a:lnSpc>
            </a:pPr>
            <a:r>
              <a:rPr lang="en-US" b="true" sz="1803" spc="2">
                <a:solidFill>
                  <a:srgbClr val="2B255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Otimização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1618" y="5696957"/>
            <a:ext cx="6154391" cy="44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540" b="true">
                <a:solidFill>
                  <a:srgbClr val="0A4C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Integração com XGBoost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1618" y="6122592"/>
            <a:ext cx="6154391" cy="74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65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Técnicas de boosting para refinar a precisão e melhorar a performance do modelo, garantindo resultados mais confiáveis nas previsões.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82956" y="7663791"/>
            <a:ext cx="6651716" cy="2194445"/>
            <a:chOff x="0" y="0"/>
            <a:chExt cx="10191749" cy="336232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91750" cy="3362325"/>
            </a:xfrm>
            <a:custGeom>
              <a:avLst/>
              <a:gdLst/>
              <a:ahLst/>
              <a:cxnLst/>
              <a:rect r="r" b="b" t="t" l="l"/>
              <a:pathLst>
                <a:path h="3362325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3362325"/>
                  </a:lnTo>
                  <a:lnTo>
                    <a:pt x="0" y="3362325"/>
                  </a:lnTo>
                  <a:close/>
                </a:path>
              </a:pathLst>
            </a:custGeom>
            <a:solidFill>
              <a:srgbClr val="3498DB">
                <a:alpha val="0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82956" y="7663791"/>
            <a:ext cx="49732" cy="2194445"/>
            <a:chOff x="0" y="0"/>
            <a:chExt cx="76200" cy="33623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6200" cy="3362325"/>
            </a:xfrm>
            <a:custGeom>
              <a:avLst/>
              <a:gdLst/>
              <a:ahLst/>
              <a:cxnLst/>
              <a:rect r="r" b="b" t="t" l="l"/>
              <a:pathLst>
                <a:path h="3362325" w="76200">
                  <a:moveTo>
                    <a:pt x="0" y="0"/>
                  </a:moveTo>
                  <a:lnTo>
                    <a:pt x="76200" y="0"/>
                  </a:lnTo>
                  <a:lnTo>
                    <a:pt x="76200" y="3362325"/>
                  </a:lnTo>
                  <a:lnTo>
                    <a:pt x="0" y="3362325"/>
                  </a:lnTo>
                  <a:close/>
                </a:path>
              </a:pathLst>
            </a:custGeom>
            <a:solidFill>
              <a:srgbClr val="3498DB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31618" y="7779104"/>
            <a:ext cx="6154391" cy="40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8"/>
              </a:lnSpc>
            </a:pPr>
            <a:r>
              <a:rPr lang="en-US" b="true" sz="1803" spc="2">
                <a:solidFill>
                  <a:srgbClr val="2B255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Justificativa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31618" y="8164931"/>
            <a:ext cx="6154391" cy="44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540" b="true">
                <a:solidFill>
                  <a:srgbClr val="0A4C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Escolha Técnica</a:t>
            </a:r>
          </a:p>
        </p:txBody>
      </p:sp>
      <p:grpSp>
        <p:nvGrpSpPr>
          <p:cNvPr name="Group 39" id="39"/>
          <p:cNvGrpSpPr>
            <a:grpSpLocks noChangeAspect="true"/>
          </p:cNvGrpSpPr>
          <p:nvPr/>
        </p:nvGrpSpPr>
        <p:grpSpPr>
          <a:xfrm rot="0">
            <a:off x="7961336" y="2794519"/>
            <a:ext cx="9305963" cy="6822040"/>
            <a:chOff x="0" y="0"/>
            <a:chExt cx="10191749" cy="7471395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10191750" cy="7471410"/>
            </a:xfrm>
            <a:custGeom>
              <a:avLst/>
              <a:gdLst/>
              <a:ahLst/>
              <a:cxnLst/>
              <a:rect r="r" b="b" t="t" l="l"/>
              <a:pathLst>
                <a:path h="7471410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7471410"/>
                  </a:lnTo>
                  <a:lnTo>
                    <a:pt x="0" y="7471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02" r="0" b="-101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31618" y="8586350"/>
            <a:ext cx="6154391" cy="111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65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Bom</a:t>
            </a:r>
            <a:r>
              <a:rPr lang="en-US" sz="165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equilíbrio entre precisão e interpretabilidade. Eficácia comprovada em problemas de classificação com dados geoespaciais e meteorológicos.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238963" y="1974824"/>
            <a:ext cx="18324701" cy="8321702"/>
            <a:chOff x="0" y="0"/>
            <a:chExt cx="24432934" cy="11095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407495" cy="11070209"/>
            </a:xfrm>
            <a:custGeom>
              <a:avLst/>
              <a:gdLst/>
              <a:ahLst/>
              <a:cxnLst/>
              <a:rect r="r" b="b" t="t" l="l"/>
              <a:pathLst>
                <a:path h="11070209" w="24407495">
                  <a:moveTo>
                    <a:pt x="0" y="0"/>
                  </a:moveTo>
                  <a:lnTo>
                    <a:pt x="24407495" y="0"/>
                  </a:lnTo>
                  <a:lnTo>
                    <a:pt x="24407495" y="11070209"/>
                  </a:lnTo>
                  <a:lnTo>
                    <a:pt x="0" y="11070209"/>
                  </a:lnTo>
                  <a:close/>
                </a:path>
              </a:pathLst>
            </a:custGeom>
            <a:solidFill>
              <a:srgbClr val="4617D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32895" cy="11095609"/>
            </a:xfrm>
            <a:custGeom>
              <a:avLst/>
              <a:gdLst/>
              <a:ahLst/>
              <a:cxnLst/>
              <a:rect r="r" b="b" t="t" l="l"/>
              <a:pathLst>
                <a:path h="11095609" w="24432895">
                  <a:moveTo>
                    <a:pt x="12700" y="0"/>
                  </a:moveTo>
                  <a:lnTo>
                    <a:pt x="24420195" y="0"/>
                  </a:lnTo>
                  <a:cubicBezTo>
                    <a:pt x="24427180" y="0"/>
                    <a:pt x="24432895" y="5715"/>
                    <a:pt x="24432895" y="12700"/>
                  </a:cubicBezTo>
                  <a:lnTo>
                    <a:pt x="24432895" y="11082909"/>
                  </a:lnTo>
                  <a:cubicBezTo>
                    <a:pt x="24432895" y="11089894"/>
                    <a:pt x="24427180" y="11095609"/>
                    <a:pt x="24420195" y="11095609"/>
                  </a:cubicBezTo>
                  <a:lnTo>
                    <a:pt x="12700" y="11095609"/>
                  </a:lnTo>
                  <a:cubicBezTo>
                    <a:pt x="5715" y="11095609"/>
                    <a:pt x="0" y="11089894"/>
                    <a:pt x="0" y="1108290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082909"/>
                  </a:lnTo>
                  <a:lnTo>
                    <a:pt x="12700" y="11082909"/>
                  </a:lnTo>
                  <a:lnTo>
                    <a:pt x="12700" y="11070209"/>
                  </a:lnTo>
                  <a:lnTo>
                    <a:pt x="24420195" y="11070209"/>
                  </a:lnTo>
                  <a:lnTo>
                    <a:pt x="24420195" y="11082909"/>
                  </a:lnTo>
                  <a:lnTo>
                    <a:pt x="24407495" y="11082909"/>
                  </a:lnTo>
                  <a:lnTo>
                    <a:pt x="24407495" y="12700"/>
                  </a:lnTo>
                  <a:lnTo>
                    <a:pt x="24420195" y="12700"/>
                  </a:lnTo>
                  <a:lnTo>
                    <a:pt x="244201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4617DE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127473" y="572394"/>
            <a:ext cx="1777568" cy="877906"/>
            <a:chOff x="0" y="0"/>
            <a:chExt cx="2370090" cy="1170542"/>
          </a:xfrm>
        </p:grpSpPr>
        <p:sp>
          <p:nvSpPr>
            <p:cNvPr name="Freeform 6" id="6" descr="Picture 7"/>
            <p:cNvSpPr/>
            <p:nvPr/>
          </p:nvSpPr>
          <p:spPr>
            <a:xfrm flipH="false" flipV="false" rot="0">
              <a:off x="0" y="0"/>
              <a:ext cx="2370074" cy="1170559"/>
            </a:xfrm>
            <a:custGeom>
              <a:avLst/>
              <a:gdLst/>
              <a:ahLst/>
              <a:cxnLst/>
              <a:rect r="r" b="b" t="t" l="l"/>
              <a:pathLst>
                <a:path h="1170559" w="2370074">
                  <a:moveTo>
                    <a:pt x="0" y="0"/>
                  </a:moveTo>
                  <a:lnTo>
                    <a:pt x="2370074" y="0"/>
                  </a:lnTo>
                  <a:lnTo>
                    <a:pt x="2370074" y="1170559"/>
                  </a:lnTo>
                  <a:lnTo>
                    <a:pt x="0" y="117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1" t="0" r="-562" b="1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3445664" y="434190"/>
            <a:ext cx="1458211" cy="1119732"/>
            <a:chOff x="0" y="0"/>
            <a:chExt cx="1944282" cy="1492976"/>
          </a:xfrm>
        </p:grpSpPr>
        <p:sp>
          <p:nvSpPr>
            <p:cNvPr name="Freeform 8" id="8" descr="Picture 9"/>
            <p:cNvSpPr/>
            <p:nvPr/>
          </p:nvSpPr>
          <p:spPr>
            <a:xfrm flipH="false" flipV="false" rot="0">
              <a:off x="0" y="0"/>
              <a:ext cx="1944243" cy="1493012"/>
            </a:xfrm>
            <a:custGeom>
              <a:avLst/>
              <a:gdLst/>
              <a:ahLst/>
              <a:cxnLst/>
              <a:rect r="r" b="b" t="t" l="l"/>
              <a:pathLst>
                <a:path h="1493012" w="1944243">
                  <a:moveTo>
                    <a:pt x="0" y="0"/>
                  </a:moveTo>
                  <a:lnTo>
                    <a:pt x="1944243" y="0"/>
                  </a:lnTo>
                  <a:lnTo>
                    <a:pt x="1944243" y="1493012"/>
                  </a:lnTo>
                  <a:lnTo>
                    <a:pt x="0" y="149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" t="0" r="-109" b="2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7201592" y="146404"/>
            <a:ext cx="808054" cy="1617030"/>
            <a:chOff x="0" y="0"/>
            <a:chExt cx="1077406" cy="2156040"/>
          </a:xfrm>
        </p:grpSpPr>
        <p:sp>
          <p:nvSpPr>
            <p:cNvPr name="Freeform 10" id="10" descr="pasted-movie.png"/>
            <p:cNvSpPr/>
            <p:nvPr/>
          </p:nvSpPr>
          <p:spPr>
            <a:xfrm flipH="false" flipV="false" rot="0">
              <a:off x="0" y="0"/>
              <a:ext cx="1077468" cy="2156079"/>
            </a:xfrm>
            <a:custGeom>
              <a:avLst/>
              <a:gdLst/>
              <a:ahLst/>
              <a:cxnLst/>
              <a:rect r="r" b="b" t="t" l="l"/>
              <a:pathLst>
                <a:path h="2156079" w="1077468">
                  <a:moveTo>
                    <a:pt x="0" y="0"/>
                  </a:moveTo>
                  <a:lnTo>
                    <a:pt x="1077468" y="0"/>
                  </a:lnTo>
                  <a:lnTo>
                    <a:pt x="1077468" y="2156079"/>
                  </a:lnTo>
                  <a:lnTo>
                    <a:pt x="0" y="215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04" r="5" b="-602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1943321" y="366993"/>
            <a:ext cx="1380389" cy="1175602"/>
            <a:chOff x="0" y="0"/>
            <a:chExt cx="1840518" cy="1567470"/>
          </a:xfrm>
        </p:grpSpPr>
        <p:sp>
          <p:nvSpPr>
            <p:cNvPr name="Freeform 12" id="12" descr="pasted-movie.png"/>
            <p:cNvSpPr/>
            <p:nvPr/>
          </p:nvSpPr>
          <p:spPr>
            <a:xfrm flipH="false" flipV="false" rot="0">
              <a:off x="0" y="0"/>
              <a:ext cx="1840484" cy="1567434"/>
            </a:xfrm>
            <a:custGeom>
              <a:avLst/>
              <a:gdLst/>
              <a:ahLst/>
              <a:cxnLst/>
              <a:rect r="r" b="b" t="t" l="l"/>
              <a:pathLst>
                <a:path h="1567434" w="1840484">
                  <a:moveTo>
                    <a:pt x="0" y="0"/>
                  </a:moveTo>
                  <a:lnTo>
                    <a:pt x="1840484" y="0"/>
                  </a:lnTo>
                  <a:lnTo>
                    <a:pt x="1840484" y="1567434"/>
                  </a:lnTo>
                  <a:lnTo>
                    <a:pt x="0" y="1567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378" t="-31606" r="-19623" b="-31609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5003453" y="7913580"/>
            <a:ext cx="3394872" cy="2414976"/>
            <a:chOff x="0" y="0"/>
            <a:chExt cx="4526496" cy="3219968"/>
          </a:xfrm>
        </p:grpSpPr>
        <p:sp>
          <p:nvSpPr>
            <p:cNvPr name="Freeform 14" id="14" descr="Image"/>
            <p:cNvSpPr/>
            <p:nvPr/>
          </p:nvSpPr>
          <p:spPr>
            <a:xfrm flipH="false" flipV="false" rot="0">
              <a:off x="0" y="0"/>
              <a:ext cx="4526534" cy="3219958"/>
            </a:xfrm>
            <a:custGeom>
              <a:avLst/>
              <a:gdLst/>
              <a:ahLst/>
              <a:cxnLst/>
              <a:rect r="r" b="b" t="t" l="l"/>
              <a:pathLst>
                <a:path h="3219958" w="4526534">
                  <a:moveTo>
                    <a:pt x="0" y="0"/>
                  </a:moveTo>
                  <a:lnTo>
                    <a:pt x="4526534" y="0"/>
                  </a:lnTo>
                  <a:lnTo>
                    <a:pt x="4526534" y="3219958"/>
                  </a:lnTo>
                  <a:lnTo>
                    <a:pt x="0" y="321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73" t="0" r="-16160" b="-51433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2061220" y="3067194"/>
            <a:ext cx="6380205" cy="6194822"/>
            <a:chOff x="0" y="0"/>
            <a:chExt cx="8506940" cy="8259762"/>
          </a:xfrm>
        </p:grpSpPr>
        <p:sp>
          <p:nvSpPr>
            <p:cNvPr name="Freeform 16" id="16" descr="Image"/>
            <p:cNvSpPr/>
            <p:nvPr/>
          </p:nvSpPr>
          <p:spPr>
            <a:xfrm flipH="false" flipV="false" rot="0">
              <a:off x="0" y="0"/>
              <a:ext cx="8506968" cy="8259699"/>
            </a:xfrm>
            <a:custGeom>
              <a:avLst/>
              <a:gdLst/>
              <a:ahLst/>
              <a:cxnLst/>
              <a:rect r="r" b="b" t="t" l="l"/>
              <a:pathLst>
                <a:path h="8259699" w="8506968">
                  <a:moveTo>
                    <a:pt x="0" y="0"/>
                  </a:moveTo>
                  <a:lnTo>
                    <a:pt x="8506968" y="0"/>
                  </a:lnTo>
                  <a:lnTo>
                    <a:pt x="8506968" y="8259699"/>
                  </a:lnTo>
                  <a:lnTo>
                    <a:pt x="0" y="82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5" r="0" b="-1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812947" y="4974724"/>
            <a:ext cx="8723645" cy="9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9"/>
              </a:lnSpc>
            </a:pPr>
            <a:r>
              <a:rPr lang="en-US" b="true" sz="5550" spc="22">
                <a:solidFill>
                  <a:srgbClr val="2B255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Resultado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2956" y="1365230"/>
            <a:ext cx="6453046" cy="948447"/>
            <a:chOff x="0" y="0"/>
            <a:chExt cx="8604062" cy="12645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8578723" cy="1239139"/>
            </a:xfrm>
            <a:custGeom>
              <a:avLst/>
              <a:gdLst/>
              <a:ahLst/>
              <a:cxnLst/>
              <a:rect r="r" b="b" t="t" l="l"/>
              <a:pathLst>
                <a:path h="1239139" w="8578723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2956" y="1256384"/>
            <a:ext cx="11653162" cy="1323369"/>
            <a:chOff x="0" y="0"/>
            <a:chExt cx="15537550" cy="17644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37551" cy="1764492"/>
            </a:xfrm>
            <a:custGeom>
              <a:avLst/>
              <a:gdLst/>
              <a:ahLst/>
              <a:cxnLst/>
              <a:rect r="r" b="b" t="t" l="l"/>
              <a:pathLst>
                <a:path h="1764492" w="15537551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15537550" cy="1707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27"/>
                </a:lnSpc>
              </a:pPr>
              <a:r>
                <a:rPr lang="en-US" b="true" sz="5025" spc="2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Resultados </a:t>
              </a: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682956" y="744174"/>
            <a:ext cx="2921214" cy="248720"/>
            <a:chOff x="0" y="0"/>
            <a:chExt cx="3894952" cy="331626"/>
          </a:xfrm>
        </p:grpSpPr>
        <p:sp>
          <p:nvSpPr>
            <p:cNvPr name="Freeform 8" id="8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t="0" r="-2067" b="-8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10" id="10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t="0" r="-582" b="5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12" id="12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" r="0" b="-227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13" b="3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43000" y="2993288"/>
            <a:ext cx="7643812" cy="1745866"/>
            <a:chOff x="0" y="0"/>
            <a:chExt cx="10191749" cy="232782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91750" cy="2327783"/>
            </a:xfrm>
            <a:custGeom>
              <a:avLst/>
              <a:gdLst/>
              <a:ahLst/>
              <a:cxnLst/>
              <a:rect r="r" b="b" t="t" l="l"/>
              <a:pathLst>
                <a:path h="2327783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2327783"/>
                  </a:lnTo>
                  <a:lnTo>
                    <a:pt x="0" y="2327783"/>
                  </a:lnTo>
                  <a:close/>
                </a:path>
              </a:pathLst>
            </a:custGeom>
            <a:solidFill>
              <a:srgbClr val="3498DB">
                <a:alpha val="0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43000" y="2993288"/>
            <a:ext cx="57150" cy="1745866"/>
            <a:chOff x="0" y="0"/>
            <a:chExt cx="76200" cy="23278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200" cy="2327783"/>
            </a:xfrm>
            <a:custGeom>
              <a:avLst/>
              <a:gdLst/>
              <a:ahLst/>
              <a:cxnLst/>
              <a:rect r="r" b="b" t="t" l="l"/>
              <a:pathLst>
                <a:path h="2327783" w="76200">
                  <a:moveTo>
                    <a:pt x="0" y="0"/>
                  </a:moveTo>
                  <a:lnTo>
                    <a:pt x="76200" y="0"/>
                  </a:lnTo>
                  <a:lnTo>
                    <a:pt x="76200" y="2327783"/>
                  </a:lnTo>
                  <a:lnTo>
                    <a:pt x="0" y="2327783"/>
                  </a:lnTo>
                  <a:close/>
                </a:path>
              </a:pathLst>
            </a:custGeom>
            <a:solidFill>
              <a:srgbClr val="3498DB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428750" y="3145688"/>
            <a:ext cx="7072312" cy="41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b="true" sz="1865" spc="2">
                <a:solidFill>
                  <a:srgbClr val="2B255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Estado Atual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28750" y="3569549"/>
            <a:ext cx="7072312" cy="79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5"/>
              </a:lnSpc>
            </a:pPr>
            <a:r>
              <a:rPr lang="en-US" sz="18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Modelo treinado e serializado (modelo_inundacoes.pkl) com interface funcional pronta para operação.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43000" y="5096340"/>
            <a:ext cx="7643812" cy="1851626"/>
            <a:chOff x="0" y="0"/>
            <a:chExt cx="10191749" cy="246883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191750" cy="2468880"/>
            </a:xfrm>
            <a:custGeom>
              <a:avLst/>
              <a:gdLst/>
              <a:ahLst/>
              <a:cxnLst/>
              <a:rect r="r" b="b" t="t" l="l"/>
              <a:pathLst>
                <a:path h="2468880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2468880"/>
                  </a:lnTo>
                  <a:lnTo>
                    <a:pt x="0" y="2468880"/>
                  </a:lnTo>
                  <a:close/>
                </a:path>
              </a:pathLst>
            </a:custGeom>
            <a:solidFill>
              <a:srgbClr val="3498DB">
                <a:alpha val="0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43000" y="5096340"/>
            <a:ext cx="57150" cy="1851626"/>
            <a:chOff x="0" y="0"/>
            <a:chExt cx="76200" cy="246883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200" cy="2468880"/>
            </a:xfrm>
            <a:custGeom>
              <a:avLst/>
              <a:gdLst/>
              <a:ahLst/>
              <a:cxnLst/>
              <a:rect r="r" b="b" t="t" l="l"/>
              <a:pathLst>
                <a:path h="2468880" w="76200">
                  <a:moveTo>
                    <a:pt x="0" y="0"/>
                  </a:moveTo>
                  <a:lnTo>
                    <a:pt x="76200" y="0"/>
                  </a:lnTo>
                  <a:lnTo>
                    <a:pt x="76200" y="2468880"/>
                  </a:lnTo>
                  <a:lnTo>
                    <a:pt x="0" y="2468880"/>
                  </a:lnTo>
                  <a:close/>
                </a:path>
              </a:pathLst>
            </a:custGeom>
            <a:solidFill>
              <a:srgbClr val="3498DB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428750" y="5248740"/>
            <a:ext cx="7072312" cy="41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b="true" sz="1865" spc="2">
                <a:solidFill>
                  <a:srgbClr val="2B255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Métrica Chave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28750" y="5672603"/>
            <a:ext cx="7072312" cy="40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5"/>
              </a:lnSpc>
            </a:pPr>
            <a:r>
              <a:rPr lang="en-US" sz="18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Alta taxa de acerto na classificação de risco nos testes iniciais.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28750" y="6133579"/>
            <a:ext cx="7072312" cy="43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8"/>
              </a:lnSpc>
            </a:pPr>
            <a:r>
              <a:rPr lang="en-US" b="true" sz="1969">
                <a:solidFill>
                  <a:srgbClr val="2B255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 90%+ de Precisão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43000" y="7305154"/>
            <a:ext cx="7643812" cy="1717290"/>
            <a:chOff x="0" y="0"/>
            <a:chExt cx="10191749" cy="2289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191750" cy="2289683"/>
            </a:xfrm>
            <a:custGeom>
              <a:avLst/>
              <a:gdLst/>
              <a:ahLst/>
              <a:cxnLst/>
              <a:rect r="r" b="b" t="t" l="l"/>
              <a:pathLst>
                <a:path h="2289683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2289683"/>
                  </a:lnTo>
                  <a:lnTo>
                    <a:pt x="0" y="2289683"/>
                  </a:lnTo>
                  <a:close/>
                </a:path>
              </a:pathLst>
            </a:custGeom>
            <a:solidFill>
              <a:srgbClr val="3498DB">
                <a:alpha val="0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43000" y="7305154"/>
            <a:ext cx="57150" cy="1717290"/>
            <a:chOff x="0" y="0"/>
            <a:chExt cx="76200" cy="2289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200" cy="2289683"/>
            </a:xfrm>
            <a:custGeom>
              <a:avLst/>
              <a:gdLst/>
              <a:ahLst/>
              <a:cxnLst/>
              <a:rect r="r" b="b" t="t" l="l"/>
              <a:pathLst>
                <a:path h="2289683" w="76200">
                  <a:moveTo>
                    <a:pt x="0" y="0"/>
                  </a:moveTo>
                  <a:lnTo>
                    <a:pt x="76200" y="0"/>
                  </a:lnTo>
                  <a:lnTo>
                    <a:pt x="76200" y="2289683"/>
                  </a:lnTo>
                  <a:lnTo>
                    <a:pt x="0" y="2289683"/>
                  </a:lnTo>
                  <a:close/>
                </a:path>
              </a:pathLst>
            </a:custGeom>
            <a:solidFill>
              <a:srgbClr val="3498DB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428750" y="7457554"/>
            <a:ext cx="7072312" cy="41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b="true" sz="1865" spc="2">
                <a:solidFill>
                  <a:srgbClr val="2B255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Output em Tempo Real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28750" y="7881417"/>
            <a:ext cx="7072312" cy="79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5"/>
              </a:lnSpc>
            </a:pPr>
            <a:r>
              <a:rPr lang="en-US" sz="18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Geração de uma </a:t>
            </a:r>
            <a:r>
              <a:rPr lang="en-US" b="true" sz="186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probabilidade de risco</a:t>
            </a:r>
            <a:r>
              <a:rPr lang="en-US" sz="18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para cada previsão, fornecendo o dado essencial para a tomada de decisão imediata.</a:t>
            </a:r>
          </a:p>
        </p:txBody>
      </p:sp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9157570" y="3565145"/>
            <a:ext cx="8786812" cy="4462566"/>
            <a:chOff x="0" y="0"/>
            <a:chExt cx="10191749" cy="5176093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10191750" cy="5176139"/>
            </a:xfrm>
            <a:custGeom>
              <a:avLst/>
              <a:gdLst/>
              <a:ahLst/>
              <a:cxnLst/>
              <a:rect r="r" b="b" t="t" l="l"/>
              <a:pathLst>
                <a:path h="5176139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5176139"/>
                  </a:lnTo>
                  <a:lnTo>
                    <a:pt x="0" y="5176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37" r="0" b="-236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238963" y="1974824"/>
            <a:ext cx="18324701" cy="8321702"/>
            <a:chOff x="0" y="0"/>
            <a:chExt cx="24432934" cy="11095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407495" cy="11070209"/>
            </a:xfrm>
            <a:custGeom>
              <a:avLst/>
              <a:gdLst/>
              <a:ahLst/>
              <a:cxnLst/>
              <a:rect r="r" b="b" t="t" l="l"/>
              <a:pathLst>
                <a:path h="11070209" w="24407495">
                  <a:moveTo>
                    <a:pt x="0" y="0"/>
                  </a:moveTo>
                  <a:lnTo>
                    <a:pt x="24407495" y="0"/>
                  </a:lnTo>
                  <a:lnTo>
                    <a:pt x="24407495" y="11070209"/>
                  </a:lnTo>
                  <a:lnTo>
                    <a:pt x="0" y="11070209"/>
                  </a:lnTo>
                  <a:close/>
                </a:path>
              </a:pathLst>
            </a:custGeom>
            <a:solidFill>
              <a:srgbClr val="4617D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32895" cy="11095609"/>
            </a:xfrm>
            <a:custGeom>
              <a:avLst/>
              <a:gdLst/>
              <a:ahLst/>
              <a:cxnLst/>
              <a:rect r="r" b="b" t="t" l="l"/>
              <a:pathLst>
                <a:path h="11095609" w="24432895">
                  <a:moveTo>
                    <a:pt x="12700" y="0"/>
                  </a:moveTo>
                  <a:lnTo>
                    <a:pt x="24420195" y="0"/>
                  </a:lnTo>
                  <a:cubicBezTo>
                    <a:pt x="24427180" y="0"/>
                    <a:pt x="24432895" y="5715"/>
                    <a:pt x="24432895" y="12700"/>
                  </a:cubicBezTo>
                  <a:lnTo>
                    <a:pt x="24432895" y="11082909"/>
                  </a:lnTo>
                  <a:cubicBezTo>
                    <a:pt x="24432895" y="11089894"/>
                    <a:pt x="24427180" y="11095609"/>
                    <a:pt x="24420195" y="11095609"/>
                  </a:cubicBezTo>
                  <a:lnTo>
                    <a:pt x="12700" y="11095609"/>
                  </a:lnTo>
                  <a:cubicBezTo>
                    <a:pt x="5715" y="11095609"/>
                    <a:pt x="0" y="11089894"/>
                    <a:pt x="0" y="1108290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082909"/>
                  </a:lnTo>
                  <a:lnTo>
                    <a:pt x="12700" y="11082909"/>
                  </a:lnTo>
                  <a:lnTo>
                    <a:pt x="12700" y="11070209"/>
                  </a:lnTo>
                  <a:lnTo>
                    <a:pt x="24420195" y="11070209"/>
                  </a:lnTo>
                  <a:lnTo>
                    <a:pt x="24420195" y="11082909"/>
                  </a:lnTo>
                  <a:lnTo>
                    <a:pt x="24407495" y="11082909"/>
                  </a:lnTo>
                  <a:lnTo>
                    <a:pt x="24407495" y="12700"/>
                  </a:lnTo>
                  <a:lnTo>
                    <a:pt x="24420195" y="12700"/>
                  </a:lnTo>
                  <a:lnTo>
                    <a:pt x="244201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4617DE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127473" y="572394"/>
            <a:ext cx="1777568" cy="877906"/>
            <a:chOff x="0" y="0"/>
            <a:chExt cx="2370090" cy="1170542"/>
          </a:xfrm>
        </p:grpSpPr>
        <p:sp>
          <p:nvSpPr>
            <p:cNvPr name="Freeform 6" id="6" descr="Picture 7"/>
            <p:cNvSpPr/>
            <p:nvPr/>
          </p:nvSpPr>
          <p:spPr>
            <a:xfrm flipH="false" flipV="false" rot="0">
              <a:off x="0" y="0"/>
              <a:ext cx="2370074" cy="1170559"/>
            </a:xfrm>
            <a:custGeom>
              <a:avLst/>
              <a:gdLst/>
              <a:ahLst/>
              <a:cxnLst/>
              <a:rect r="r" b="b" t="t" l="l"/>
              <a:pathLst>
                <a:path h="1170559" w="2370074">
                  <a:moveTo>
                    <a:pt x="0" y="0"/>
                  </a:moveTo>
                  <a:lnTo>
                    <a:pt x="2370074" y="0"/>
                  </a:lnTo>
                  <a:lnTo>
                    <a:pt x="2370074" y="1170559"/>
                  </a:lnTo>
                  <a:lnTo>
                    <a:pt x="0" y="117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1" t="0" r="-562" b="1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3445664" y="434190"/>
            <a:ext cx="1458211" cy="1119732"/>
            <a:chOff x="0" y="0"/>
            <a:chExt cx="1944282" cy="1492976"/>
          </a:xfrm>
        </p:grpSpPr>
        <p:sp>
          <p:nvSpPr>
            <p:cNvPr name="Freeform 8" id="8" descr="Picture 9"/>
            <p:cNvSpPr/>
            <p:nvPr/>
          </p:nvSpPr>
          <p:spPr>
            <a:xfrm flipH="false" flipV="false" rot="0">
              <a:off x="0" y="0"/>
              <a:ext cx="1944243" cy="1493012"/>
            </a:xfrm>
            <a:custGeom>
              <a:avLst/>
              <a:gdLst/>
              <a:ahLst/>
              <a:cxnLst/>
              <a:rect r="r" b="b" t="t" l="l"/>
              <a:pathLst>
                <a:path h="1493012" w="1944243">
                  <a:moveTo>
                    <a:pt x="0" y="0"/>
                  </a:moveTo>
                  <a:lnTo>
                    <a:pt x="1944243" y="0"/>
                  </a:lnTo>
                  <a:lnTo>
                    <a:pt x="1944243" y="1493012"/>
                  </a:lnTo>
                  <a:lnTo>
                    <a:pt x="0" y="149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" t="0" r="-109" b="2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7201592" y="146404"/>
            <a:ext cx="808054" cy="1617030"/>
            <a:chOff x="0" y="0"/>
            <a:chExt cx="1077406" cy="2156040"/>
          </a:xfrm>
        </p:grpSpPr>
        <p:sp>
          <p:nvSpPr>
            <p:cNvPr name="Freeform 10" id="10" descr="pasted-movie.png"/>
            <p:cNvSpPr/>
            <p:nvPr/>
          </p:nvSpPr>
          <p:spPr>
            <a:xfrm flipH="false" flipV="false" rot="0">
              <a:off x="0" y="0"/>
              <a:ext cx="1077468" cy="2156079"/>
            </a:xfrm>
            <a:custGeom>
              <a:avLst/>
              <a:gdLst/>
              <a:ahLst/>
              <a:cxnLst/>
              <a:rect r="r" b="b" t="t" l="l"/>
              <a:pathLst>
                <a:path h="2156079" w="1077468">
                  <a:moveTo>
                    <a:pt x="0" y="0"/>
                  </a:moveTo>
                  <a:lnTo>
                    <a:pt x="1077468" y="0"/>
                  </a:lnTo>
                  <a:lnTo>
                    <a:pt x="1077468" y="2156079"/>
                  </a:lnTo>
                  <a:lnTo>
                    <a:pt x="0" y="215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04" r="5" b="-602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1943321" y="366993"/>
            <a:ext cx="1380389" cy="1175602"/>
            <a:chOff x="0" y="0"/>
            <a:chExt cx="1840518" cy="1567470"/>
          </a:xfrm>
        </p:grpSpPr>
        <p:sp>
          <p:nvSpPr>
            <p:cNvPr name="Freeform 12" id="12" descr="pasted-movie.png"/>
            <p:cNvSpPr/>
            <p:nvPr/>
          </p:nvSpPr>
          <p:spPr>
            <a:xfrm flipH="false" flipV="false" rot="0">
              <a:off x="0" y="0"/>
              <a:ext cx="1840484" cy="1567434"/>
            </a:xfrm>
            <a:custGeom>
              <a:avLst/>
              <a:gdLst/>
              <a:ahLst/>
              <a:cxnLst/>
              <a:rect r="r" b="b" t="t" l="l"/>
              <a:pathLst>
                <a:path h="1567434" w="1840484">
                  <a:moveTo>
                    <a:pt x="0" y="0"/>
                  </a:moveTo>
                  <a:lnTo>
                    <a:pt x="1840484" y="0"/>
                  </a:lnTo>
                  <a:lnTo>
                    <a:pt x="1840484" y="1567434"/>
                  </a:lnTo>
                  <a:lnTo>
                    <a:pt x="0" y="1567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378" t="-31606" r="-19623" b="-31609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5003453" y="7913580"/>
            <a:ext cx="3394872" cy="2414976"/>
            <a:chOff x="0" y="0"/>
            <a:chExt cx="4526496" cy="3219968"/>
          </a:xfrm>
        </p:grpSpPr>
        <p:sp>
          <p:nvSpPr>
            <p:cNvPr name="Freeform 14" id="14" descr="Image"/>
            <p:cNvSpPr/>
            <p:nvPr/>
          </p:nvSpPr>
          <p:spPr>
            <a:xfrm flipH="false" flipV="false" rot="0">
              <a:off x="0" y="0"/>
              <a:ext cx="4526534" cy="3219958"/>
            </a:xfrm>
            <a:custGeom>
              <a:avLst/>
              <a:gdLst/>
              <a:ahLst/>
              <a:cxnLst/>
              <a:rect r="r" b="b" t="t" l="l"/>
              <a:pathLst>
                <a:path h="3219958" w="4526534">
                  <a:moveTo>
                    <a:pt x="0" y="0"/>
                  </a:moveTo>
                  <a:lnTo>
                    <a:pt x="4526534" y="0"/>
                  </a:lnTo>
                  <a:lnTo>
                    <a:pt x="4526534" y="3219958"/>
                  </a:lnTo>
                  <a:lnTo>
                    <a:pt x="0" y="321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73" t="0" r="-16160" b="-51433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2061220" y="3067194"/>
            <a:ext cx="6380205" cy="6194822"/>
            <a:chOff x="0" y="0"/>
            <a:chExt cx="8506940" cy="8259762"/>
          </a:xfrm>
        </p:grpSpPr>
        <p:sp>
          <p:nvSpPr>
            <p:cNvPr name="Freeform 16" id="16" descr="Image"/>
            <p:cNvSpPr/>
            <p:nvPr/>
          </p:nvSpPr>
          <p:spPr>
            <a:xfrm flipH="false" flipV="false" rot="0">
              <a:off x="0" y="0"/>
              <a:ext cx="8506968" cy="8259699"/>
            </a:xfrm>
            <a:custGeom>
              <a:avLst/>
              <a:gdLst/>
              <a:ahLst/>
              <a:cxnLst/>
              <a:rect r="r" b="b" t="t" l="l"/>
              <a:pathLst>
                <a:path h="8259699" w="8506968">
                  <a:moveTo>
                    <a:pt x="0" y="0"/>
                  </a:moveTo>
                  <a:lnTo>
                    <a:pt x="8506968" y="0"/>
                  </a:lnTo>
                  <a:lnTo>
                    <a:pt x="8506968" y="8259699"/>
                  </a:lnTo>
                  <a:lnTo>
                    <a:pt x="0" y="82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5" r="0" b="-1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812947" y="4974724"/>
            <a:ext cx="8723645" cy="9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9"/>
              </a:lnSpc>
            </a:pPr>
            <a:r>
              <a:rPr lang="en-US" b="true" sz="5550" spc="22">
                <a:solidFill>
                  <a:srgbClr val="2B255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Implantação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2956" y="1552690"/>
            <a:ext cx="10074053" cy="980606"/>
            <a:chOff x="0" y="0"/>
            <a:chExt cx="13432071" cy="13074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9826" y="13131"/>
              <a:ext cx="13392513" cy="1281154"/>
            </a:xfrm>
            <a:custGeom>
              <a:avLst/>
              <a:gdLst/>
              <a:ahLst/>
              <a:cxnLst/>
              <a:rect r="r" b="b" t="t" l="l"/>
              <a:pathLst>
                <a:path h="1281154" w="13392513">
                  <a:moveTo>
                    <a:pt x="0" y="0"/>
                  </a:moveTo>
                  <a:lnTo>
                    <a:pt x="13392513" y="0"/>
                  </a:lnTo>
                  <a:lnTo>
                    <a:pt x="13392513" y="1281154"/>
                  </a:lnTo>
                  <a:lnTo>
                    <a:pt x="0" y="1281154"/>
                  </a:lnTo>
                  <a:close/>
                </a:path>
              </a:pathLst>
            </a:custGeom>
            <a:solidFill>
              <a:srgbClr val="FE2E4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2956" y="1381309"/>
            <a:ext cx="11653162" cy="1323369"/>
            <a:chOff x="0" y="0"/>
            <a:chExt cx="15537550" cy="17644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37551" cy="1764492"/>
            </a:xfrm>
            <a:custGeom>
              <a:avLst/>
              <a:gdLst/>
              <a:ahLst/>
              <a:cxnLst/>
              <a:rect r="r" b="b" t="t" l="l"/>
              <a:pathLst>
                <a:path h="1764492" w="15537551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15537550" cy="17168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9"/>
                </a:lnSpc>
              </a:pPr>
              <a:r>
                <a:rPr lang="en-US" b="true" sz="3425" spc="13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Implantação da Solução: Acessibilidade e Escalabilidade</a:t>
              </a: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682956" y="744174"/>
            <a:ext cx="2921214" cy="248720"/>
            <a:chOff x="0" y="0"/>
            <a:chExt cx="3894952" cy="331626"/>
          </a:xfrm>
        </p:grpSpPr>
        <p:sp>
          <p:nvSpPr>
            <p:cNvPr name="Freeform 8" id="8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t="0" r="-2067" b="-8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10" id="10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t="0" r="-582" b="5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12" id="12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" r="0" b="-227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13" b="3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00879" y="2666578"/>
            <a:ext cx="1195264" cy="66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5"/>
              </a:lnSpc>
            </a:pPr>
            <a:r>
              <a:rPr lang="en-US" b="true" sz="4145">
                <a:solidFill>
                  <a:srgbClr val="2B255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444368" y="2704678"/>
            <a:ext cx="15090206" cy="2198139"/>
            <a:chOff x="0" y="0"/>
            <a:chExt cx="23644271" cy="34441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644270" cy="3444240"/>
            </a:xfrm>
            <a:custGeom>
              <a:avLst/>
              <a:gdLst/>
              <a:ahLst/>
              <a:cxnLst/>
              <a:rect r="r" b="b" t="t" l="l"/>
              <a:pathLst>
                <a:path h="3444240" w="23644270">
                  <a:moveTo>
                    <a:pt x="0" y="0"/>
                  </a:moveTo>
                  <a:lnTo>
                    <a:pt x="23644270" y="0"/>
                  </a:lnTo>
                  <a:lnTo>
                    <a:pt x="23644270" y="3444240"/>
                  </a:lnTo>
                  <a:lnTo>
                    <a:pt x="0" y="3444240"/>
                  </a:lnTo>
                  <a:close/>
                </a:path>
              </a:pathLst>
            </a:custGeom>
            <a:solidFill>
              <a:srgbClr val="3498DB">
                <a:alpha val="0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444368" y="2704678"/>
            <a:ext cx="59763" cy="2198139"/>
            <a:chOff x="0" y="0"/>
            <a:chExt cx="93641" cy="344418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641" cy="3444240"/>
            </a:xfrm>
            <a:custGeom>
              <a:avLst/>
              <a:gdLst/>
              <a:ahLst/>
              <a:cxnLst/>
              <a:rect r="r" b="b" t="t" l="l"/>
              <a:pathLst>
                <a:path h="3444240" w="93641">
                  <a:moveTo>
                    <a:pt x="0" y="0"/>
                  </a:moveTo>
                  <a:lnTo>
                    <a:pt x="93641" y="0"/>
                  </a:lnTo>
                  <a:lnTo>
                    <a:pt x="93641" y="3444240"/>
                  </a:lnTo>
                  <a:lnTo>
                    <a:pt x="0" y="3444240"/>
                  </a:lnTo>
                  <a:close/>
                </a:path>
              </a:pathLst>
            </a:custGeom>
            <a:solidFill>
              <a:srgbClr val="3498DB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2817887" y="2819754"/>
            <a:ext cx="14343165" cy="46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b="true" sz="2078" spc="3">
                <a:solidFill>
                  <a:srgbClr val="2B255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Interface (Veiculação)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817887" y="3226043"/>
            <a:ext cx="14343165" cy="342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1592" b="true">
                <a:solidFill>
                  <a:srgbClr val="0A4C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Streamlit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817887" y="3823201"/>
            <a:ext cx="14298868" cy="82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0"/>
              </a:lnSpc>
            </a:pPr>
            <a:r>
              <a:rPr lang="en-US" sz="182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Aplicação web interativa desenvolvida em Streamlit (appUI.py), que serve como o ponto de acesso para o modelo. Interface </a:t>
            </a:r>
            <a:r>
              <a:rPr lang="en-US" sz="182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intuitiva e acessível para autoridades de gestão de desastres.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00879" y="5205141"/>
            <a:ext cx="1195264" cy="66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5"/>
              </a:lnSpc>
            </a:pPr>
            <a:r>
              <a:rPr lang="en-US" b="true" sz="4145">
                <a:solidFill>
                  <a:srgbClr val="2B255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2444368" y="5243241"/>
            <a:ext cx="15090206" cy="2198139"/>
            <a:chOff x="0" y="0"/>
            <a:chExt cx="23644271" cy="344418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644270" cy="3444240"/>
            </a:xfrm>
            <a:custGeom>
              <a:avLst/>
              <a:gdLst/>
              <a:ahLst/>
              <a:cxnLst/>
              <a:rect r="r" b="b" t="t" l="l"/>
              <a:pathLst>
                <a:path h="3444240" w="23644270">
                  <a:moveTo>
                    <a:pt x="0" y="0"/>
                  </a:moveTo>
                  <a:lnTo>
                    <a:pt x="23644270" y="0"/>
                  </a:lnTo>
                  <a:lnTo>
                    <a:pt x="23644270" y="3444240"/>
                  </a:lnTo>
                  <a:lnTo>
                    <a:pt x="0" y="3444240"/>
                  </a:lnTo>
                  <a:close/>
                </a:path>
              </a:pathLst>
            </a:custGeom>
            <a:solidFill>
              <a:srgbClr val="3498DB">
                <a:alpha val="0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444368" y="5243241"/>
            <a:ext cx="59763" cy="2198139"/>
            <a:chOff x="0" y="0"/>
            <a:chExt cx="93641" cy="344418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3641" cy="3444240"/>
            </a:xfrm>
            <a:custGeom>
              <a:avLst/>
              <a:gdLst/>
              <a:ahLst/>
              <a:cxnLst/>
              <a:rect r="r" b="b" t="t" l="l"/>
              <a:pathLst>
                <a:path h="3444240" w="93641">
                  <a:moveTo>
                    <a:pt x="0" y="0"/>
                  </a:moveTo>
                  <a:lnTo>
                    <a:pt x="93641" y="0"/>
                  </a:lnTo>
                  <a:lnTo>
                    <a:pt x="93641" y="3444240"/>
                  </a:lnTo>
                  <a:lnTo>
                    <a:pt x="0" y="3444240"/>
                  </a:lnTo>
                  <a:close/>
                </a:path>
              </a:pathLst>
            </a:custGeom>
            <a:solidFill>
              <a:srgbClr val="3498DB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2817887" y="5358319"/>
            <a:ext cx="14343165" cy="46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b="true" sz="2078" spc="3">
                <a:solidFill>
                  <a:srgbClr val="2B255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Serialização de Modelos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817887" y="5764608"/>
            <a:ext cx="14343165" cy="342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1592" b="true">
                <a:solidFill>
                  <a:srgbClr val="0A4C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Joblib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817887" y="6361765"/>
            <a:ext cx="13984995" cy="82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0"/>
              </a:lnSpc>
            </a:pPr>
            <a:r>
              <a:rPr lang="en-US" sz="182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 modelo treinado é salvo com Joblib (modelo_inundacoes.pkl) e carregado diretamente pela aplicação, garantindo a eficiência da veiculação e a consistência das previsões.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00879" y="7743706"/>
            <a:ext cx="1195264" cy="66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5"/>
              </a:lnSpc>
            </a:pPr>
            <a:r>
              <a:rPr lang="en-US" b="true" sz="4145">
                <a:solidFill>
                  <a:srgbClr val="2B255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2444368" y="7781806"/>
            <a:ext cx="15090206" cy="1945289"/>
            <a:chOff x="0" y="0"/>
            <a:chExt cx="23644271" cy="3048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3644270" cy="3048000"/>
            </a:xfrm>
            <a:custGeom>
              <a:avLst/>
              <a:gdLst/>
              <a:ahLst/>
              <a:cxnLst/>
              <a:rect r="r" b="b" t="t" l="l"/>
              <a:pathLst>
                <a:path h="3048000" w="23644270">
                  <a:moveTo>
                    <a:pt x="0" y="0"/>
                  </a:moveTo>
                  <a:lnTo>
                    <a:pt x="23644270" y="0"/>
                  </a:lnTo>
                  <a:lnTo>
                    <a:pt x="2364427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3498DB">
                <a:alpha val="0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444368" y="7781806"/>
            <a:ext cx="59763" cy="1945289"/>
            <a:chOff x="0" y="0"/>
            <a:chExt cx="93641" cy="3048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3641" cy="3048000"/>
            </a:xfrm>
            <a:custGeom>
              <a:avLst/>
              <a:gdLst/>
              <a:ahLst/>
              <a:cxnLst/>
              <a:rect r="r" b="b" t="t" l="l"/>
              <a:pathLst>
                <a:path h="3048000" w="93641">
                  <a:moveTo>
                    <a:pt x="0" y="0"/>
                  </a:moveTo>
                  <a:lnTo>
                    <a:pt x="93641" y="0"/>
                  </a:lnTo>
                  <a:lnTo>
                    <a:pt x="93641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3498DB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2817887" y="7896884"/>
            <a:ext cx="14343165" cy="46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b="true" sz="2078" spc="3">
                <a:solidFill>
                  <a:srgbClr val="2B255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Estratégia de Deployment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817889" y="8365223"/>
            <a:ext cx="14343165" cy="342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1592" b="true">
                <a:solidFill>
                  <a:srgbClr val="0A4C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Ambiente de Nuvem (Cloud)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817889" y="8735942"/>
            <a:ext cx="13984995" cy="82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0"/>
              </a:lnSpc>
            </a:pPr>
            <a:r>
              <a:rPr lang="en-US" sz="182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</a:t>
            </a:r>
            <a:r>
              <a:rPr lang="en-US" sz="182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mplantação em ambientes de nuvem (AWS, Azure, Google Cloud ou Streamlit Community Cloud) para garantir disponibilidade 24/7 e escalabilidade para múltiplos utilizadores e requisições.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2956" y="1552690"/>
            <a:ext cx="10074053" cy="980606"/>
            <a:chOff x="0" y="0"/>
            <a:chExt cx="13432071" cy="13074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9826" y="13131"/>
              <a:ext cx="13392513" cy="1281154"/>
            </a:xfrm>
            <a:custGeom>
              <a:avLst/>
              <a:gdLst/>
              <a:ahLst/>
              <a:cxnLst/>
              <a:rect r="r" b="b" t="t" l="l"/>
              <a:pathLst>
                <a:path h="1281154" w="13392513">
                  <a:moveTo>
                    <a:pt x="0" y="0"/>
                  </a:moveTo>
                  <a:lnTo>
                    <a:pt x="13392513" y="0"/>
                  </a:lnTo>
                  <a:lnTo>
                    <a:pt x="13392513" y="1281154"/>
                  </a:lnTo>
                  <a:lnTo>
                    <a:pt x="0" y="1281154"/>
                  </a:lnTo>
                  <a:close/>
                </a:path>
              </a:pathLst>
            </a:custGeom>
            <a:solidFill>
              <a:srgbClr val="FE2E4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2956" y="1381309"/>
            <a:ext cx="11653162" cy="1323369"/>
            <a:chOff x="0" y="0"/>
            <a:chExt cx="15537550" cy="17644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37551" cy="1764492"/>
            </a:xfrm>
            <a:custGeom>
              <a:avLst/>
              <a:gdLst/>
              <a:ahLst/>
              <a:cxnLst/>
              <a:rect r="r" b="b" t="t" l="l"/>
              <a:pathLst>
                <a:path h="1764492" w="15537551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15537550" cy="17168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9"/>
                </a:lnSpc>
              </a:pPr>
              <a:r>
                <a:rPr lang="en-US" b="true" sz="3425" spc="13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Implantação da Solução: Acessibilidade e Escalabilidade</a:t>
              </a: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682956" y="744174"/>
            <a:ext cx="2921214" cy="248720"/>
            <a:chOff x="0" y="0"/>
            <a:chExt cx="3894952" cy="331626"/>
          </a:xfrm>
        </p:grpSpPr>
        <p:sp>
          <p:nvSpPr>
            <p:cNvPr name="Freeform 8" id="8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t="0" r="-2067" b="-8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10" id="10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t="0" r="-582" b="5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12" id="12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" r="0" b="-227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13" b="3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2956" y="2704678"/>
            <a:ext cx="16851618" cy="7080219"/>
            <a:chOff x="0" y="0"/>
            <a:chExt cx="22468824" cy="9440292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1052251"/>
              <a:ext cx="11177391" cy="7335792"/>
              <a:chOff x="0" y="0"/>
              <a:chExt cx="11684739" cy="7668768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1684716" cy="7668768"/>
              </a:xfrm>
              <a:custGeom>
                <a:avLst/>
                <a:gdLst/>
                <a:ahLst/>
                <a:cxnLst/>
                <a:rect r="r" b="b" t="t" l="l"/>
                <a:pathLst>
                  <a:path h="7668768" w="11684716">
                    <a:moveTo>
                      <a:pt x="26814" y="0"/>
                    </a:moveTo>
                    <a:lnTo>
                      <a:pt x="11657902" y="0"/>
                    </a:lnTo>
                    <a:cubicBezTo>
                      <a:pt x="11672706" y="0"/>
                      <a:pt x="11684716" y="10922"/>
                      <a:pt x="11684716" y="24384"/>
                    </a:cubicBezTo>
                    <a:lnTo>
                      <a:pt x="11684716" y="7644384"/>
                    </a:lnTo>
                    <a:cubicBezTo>
                      <a:pt x="11684716" y="7657846"/>
                      <a:pt x="11672706" y="7668768"/>
                      <a:pt x="11657902" y="7668768"/>
                    </a:cubicBezTo>
                    <a:lnTo>
                      <a:pt x="26814" y="7668768"/>
                    </a:lnTo>
                    <a:cubicBezTo>
                      <a:pt x="12010" y="7668768"/>
                      <a:pt x="0" y="7657846"/>
                      <a:pt x="0" y="7644384"/>
                    </a:cubicBezTo>
                    <a:lnTo>
                      <a:pt x="0" y="24384"/>
                    </a:lnTo>
                    <a:cubicBezTo>
                      <a:pt x="0" y="10922"/>
                      <a:pt x="12010" y="0"/>
                      <a:pt x="26814" y="0"/>
                    </a:cubicBezTo>
                    <a:moveTo>
                      <a:pt x="26814" y="48768"/>
                    </a:moveTo>
                    <a:lnTo>
                      <a:pt x="26814" y="24384"/>
                    </a:lnTo>
                    <a:lnTo>
                      <a:pt x="53627" y="24384"/>
                    </a:lnTo>
                    <a:lnTo>
                      <a:pt x="53627" y="7644384"/>
                    </a:lnTo>
                    <a:lnTo>
                      <a:pt x="26814" y="7644384"/>
                    </a:lnTo>
                    <a:lnTo>
                      <a:pt x="26814" y="7620000"/>
                    </a:lnTo>
                    <a:lnTo>
                      <a:pt x="11657902" y="7620000"/>
                    </a:lnTo>
                    <a:lnTo>
                      <a:pt x="11657902" y="7644384"/>
                    </a:lnTo>
                    <a:lnTo>
                      <a:pt x="11631089" y="7644384"/>
                    </a:lnTo>
                    <a:lnTo>
                      <a:pt x="11631089" y="24384"/>
                    </a:lnTo>
                    <a:lnTo>
                      <a:pt x="11657902" y="24384"/>
                    </a:lnTo>
                    <a:lnTo>
                      <a:pt x="11657902" y="48768"/>
                    </a:lnTo>
                    <a:lnTo>
                      <a:pt x="26814" y="48768"/>
                    </a:lnTo>
                    <a:close/>
                  </a:path>
                </a:pathLst>
              </a:custGeom>
              <a:solidFill>
                <a:srgbClr val="3BCEAC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12354055" y="2802620"/>
              <a:ext cx="10114769" cy="1384937"/>
              <a:chOff x="0" y="0"/>
              <a:chExt cx="10573884" cy="1447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573906" cy="1447800"/>
              </a:xfrm>
              <a:custGeom>
                <a:avLst/>
                <a:gdLst/>
                <a:ahLst/>
                <a:cxnLst/>
                <a:rect r="r" b="b" t="t" l="l"/>
                <a:pathLst>
                  <a:path h="1447800" w="10573906">
                    <a:moveTo>
                      <a:pt x="0" y="0"/>
                    </a:moveTo>
                    <a:lnTo>
                      <a:pt x="10573906" y="0"/>
                    </a:lnTo>
                    <a:lnTo>
                      <a:pt x="10573906" y="1447800"/>
                    </a:lnTo>
                    <a:lnTo>
                      <a:pt x="0" y="1447800"/>
                    </a:lnTo>
                    <a:close/>
                  </a:path>
                </a:pathLst>
              </a:custGeom>
              <a:solidFill>
                <a:srgbClr val="3BCEAC">
                  <a:alpha val="392"/>
                </a:srgbClr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12350670" y="2802620"/>
              <a:ext cx="63500" cy="1384937"/>
              <a:chOff x="0" y="0"/>
              <a:chExt cx="66382" cy="1447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6383" cy="1447800"/>
              </a:xfrm>
              <a:custGeom>
                <a:avLst/>
                <a:gdLst/>
                <a:ahLst/>
                <a:cxnLst/>
                <a:rect r="r" b="b" t="t" l="l"/>
                <a:pathLst>
                  <a:path h="1447800" w="66383">
                    <a:moveTo>
                      <a:pt x="0" y="0"/>
                    </a:moveTo>
                    <a:lnTo>
                      <a:pt x="66383" y="0"/>
                    </a:lnTo>
                    <a:lnTo>
                      <a:pt x="66383" y="1447800"/>
                    </a:lnTo>
                    <a:lnTo>
                      <a:pt x="0" y="1447800"/>
                    </a:lnTo>
                    <a:close/>
                  </a:path>
                </a:pathLst>
              </a:custGeom>
              <a:solidFill>
                <a:srgbClr val="3BCEAC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12674671" y="3094185"/>
              <a:ext cx="641234" cy="583131"/>
              <a:chOff x="0" y="0"/>
              <a:chExt cx="670340" cy="6096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7034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70340">
                    <a:moveTo>
                      <a:pt x="0" y="0"/>
                    </a:moveTo>
                    <a:lnTo>
                      <a:pt x="670340" y="0"/>
                    </a:lnTo>
                    <a:lnTo>
                      <a:pt x="67034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670340" cy="6667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00"/>
                  </a:lnSpc>
                </a:pPr>
                <a:r>
                  <a:rPr lang="en-US" b="true" sz="1568">
                    <a:solidFill>
                      <a:srgbClr val="2B2551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📁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2354055" y="4697796"/>
              <a:ext cx="10114769" cy="1767618"/>
              <a:chOff x="0" y="0"/>
              <a:chExt cx="10573884" cy="184785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573906" cy="1847850"/>
              </a:xfrm>
              <a:custGeom>
                <a:avLst/>
                <a:gdLst/>
                <a:ahLst/>
                <a:cxnLst/>
                <a:rect r="r" b="b" t="t" l="l"/>
                <a:pathLst>
                  <a:path h="1847850" w="10573906">
                    <a:moveTo>
                      <a:pt x="0" y="0"/>
                    </a:moveTo>
                    <a:lnTo>
                      <a:pt x="10573906" y="0"/>
                    </a:lnTo>
                    <a:lnTo>
                      <a:pt x="10573906" y="1847850"/>
                    </a:lnTo>
                    <a:lnTo>
                      <a:pt x="0" y="1847850"/>
                    </a:lnTo>
                    <a:close/>
                  </a:path>
                </a:pathLst>
              </a:custGeom>
              <a:solidFill>
                <a:srgbClr val="3BCEAC">
                  <a:alpha val="392"/>
                </a:srgbClr>
              </a:solidFill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12350670" y="4697796"/>
              <a:ext cx="63500" cy="1767618"/>
              <a:chOff x="0" y="0"/>
              <a:chExt cx="66382" cy="1847851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6383" cy="1847850"/>
              </a:xfrm>
              <a:custGeom>
                <a:avLst/>
                <a:gdLst/>
                <a:ahLst/>
                <a:cxnLst/>
                <a:rect r="r" b="b" t="t" l="l"/>
                <a:pathLst>
                  <a:path h="1847850" w="66383">
                    <a:moveTo>
                      <a:pt x="0" y="0"/>
                    </a:moveTo>
                    <a:lnTo>
                      <a:pt x="66383" y="0"/>
                    </a:lnTo>
                    <a:lnTo>
                      <a:pt x="66383" y="1847850"/>
                    </a:lnTo>
                    <a:lnTo>
                      <a:pt x="0" y="1847850"/>
                    </a:lnTo>
                    <a:close/>
                  </a:path>
                </a:pathLst>
              </a:custGeom>
              <a:solidFill>
                <a:srgbClr val="3BCEAC"/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12674671" y="4989362"/>
              <a:ext cx="641234" cy="583131"/>
              <a:chOff x="0" y="0"/>
              <a:chExt cx="670340" cy="6096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67034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70340">
                    <a:moveTo>
                      <a:pt x="0" y="0"/>
                    </a:moveTo>
                    <a:lnTo>
                      <a:pt x="670340" y="0"/>
                    </a:lnTo>
                    <a:lnTo>
                      <a:pt x="67034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57150"/>
                <a:ext cx="670340" cy="6667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00"/>
                  </a:lnSpc>
                </a:pPr>
                <a:r>
                  <a:rPr lang="en-US" b="true" sz="1568">
                    <a:solidFill>
                      <a:srgbClr val="2B2551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⚙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12354055" y="6975651"/>
              <a:ext cx="10114769" cy="2464641"/>
              <a:chOff x="0" y="0"/>
              <a:chExt cx="10573884" cy="2576512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0573906" cy="2576449"/>
              </a:xfrm>
              <a:custGeom>
                <a:avLst/>
                <a:gdLst/>
                <a:ahLst/>
                <a:cxnLst/>
                <a:rect r="r" b="b" t="t" l="l"/>
                <a:pathLst>
                  <a:path h="2576449" w="10573906">
                    <a:moveTo>
                      <a:pt x="0" y="0"/>
                    </a:moveTo>
                    <a:lnTo>
                      <a:pt x="10573906" y="0"/>
                    </a:lnTo>
                    <a:lnTo>
                      <a:pt x="10573906" y="2576449"/>
                    </a:lnTo>
                    <a:lnTo>
                      <a:pt x="0" y="2576449"/>
                    </a:lnTo>
                    <a:close/>
                  </a:path>
                </a:pathLst>
              </a:custGeom>
              <a:solidFill>
                <a:srgbClr val="3BCEAC">
                  <a:alpha val="392"/>
                </a:srgbClr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12350670" y="6975651"/>
              <a:ext cx="63500" cy="2464641"/>
              <a:chOff x="0" y="0"/>
              <a:chExt cx="66382" cy="2576512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66383" cy="2576449"/>
              </a:xfrm>
              <a:custGeom>
                <a:avLst/>
                <a:gdLst/>
                <a:ahLst/>
                <a:cxnLst/>
                <a:rect r="r" b="b" t="t" l="l"/>
                <a:pathLst>
                  <a:path h="2576449" w="66383">
                    <a:moveTo>
                      <a:pt x="0" y="0"/>
                    </a:moveTo>
                    <a:lnTo>
                      <a:pt x="66383" y="0"/>
                    </a:lnTo>
                    <a:lnTo>
                      <a:pt x="66383" y="2576449"/>
                    </a:lnTo>
                    <a:lnTo>
                      <a:pt x="0" y="2576449"/>
                    </a:lnTo>
                    <a:close/>
                  </a:path>
                </a:pathLst>
              </a:custGeom>
              <a:solidFill>
                <a:srgbClr val="3BCEAC"/>
              </a:solidFill>
            </p:spPr>
          </p:sp>
        </p:grpSp>
        <p:sp>
          <p:nvSpPr>
            <p:cNvPr name="Freeform 40" id="40"/>
            <p:cNvSpPr/>
            <p:nvPr/>
          </p:nvSpPr>
          <p:spPr>
            <a:xfrm flipH="false" flipV="false" rot="0">
              <a:off x="326227" y="2185491"/>
              <a:ext cx="3143284" cy="5081726"/>
            </a:xfrm>
            <a:custGeom>
              <a:avLst/>
              <a:gdLst/>
              <a:ahLst/>
              <a:cxnLst/>
              <a:rect r="r" b="b" t="t" l="l"/>
              <a:pathLst>
                <a:path h="5081726" w="3143284">
                  <a:moveTo>
                    <a:pt x="0" y="0"/>
                  </a:moveTo>
                  <a:lnTo>
                    <a:pt x="3143284" y="0"/>
                  </a:lnTo>
                  <a:lnTo>
                    <a:pt x="3143284" y="5081726"/>
                  </a:lnTo>
                  <a:lnTo>
                    <a:pt x="0" y="50817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981" r="0" b="-4981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4007340" y="2185491"/>
              <a:ext cx="3162711" cy="5113133"/>
            </a:xfrm>
            <a:custGeom>
              <a:avLst/>
              <a:gdLst/>
              <a:ahLst/>
              <a:cxnLst/>
              <a:rect r="r" b="b" t="t" l="l"/>
              <a:pathLst>
                <a:path h="5113133" w="3162711">
                  <a:moveTo>
                    <a:pt x="0" y="0"/>
                  </a:moveTo>
                  <a:lnTo>
                    <a:pt x="3162711" y="0"/>
                  </a:lnTo>
                  <a:lnTo>
                    <a:pt x="3162711" y="5113132"/>
                  </a:lnTo>
                  <a:lnTo>
                    <a:pt x="0" y="5113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981" r="0" b="-4981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7482519" y="2177958"/>
              <a:ext cx="3152603" cy="5096791"/>
            </a:xfrm>
            <a:custGeom>
              <a:avLst/>
              <a:gdLst/>
              <a:ahLst/>
              <a:cxnLst/>
              <a:rect r="r" b="b" t="t" l="l"/>
              <a:pathLst>
                <a:path h="5096791" w="3152603">
                  <a:moveTo>
                    <a:pt x="0" y="0"/>
                  </a:moveTo>
                  <a:lnTo>
                    <a:pt x="3152603" y="0"/>
                  </a:lnTo>
                  <a:lnTo>
                    <a:pt x="3152603" y="5096791"/>
                  </a:lnTo>
                  <a:lnTo>
                    <a:pt x="0" y="5096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981" r="0" b="-498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12354055" y="-152400"/>
              <a:ext cx="10114769" cy="851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4"/>
                </a:lnSpc>
              </a:pPr>
              <a:r>
                <a:rPr lang="en-US" sz="3458" b="true">
                  <a:solidFill>
                    <a:srgbClr val="FB36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Interface do Utilizador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2354055" y="1220137"/>
              <a:ext cx="10114769" cy="10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5"/>
                </a:lnSpc>
              </a:pPr>
              <a:r>
                <a:rPr lang="en-US" sz="1874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Aplicação web interativa desenvolvida em </a:t>
              </a:r>
              <a:r>
                <a:rPr lang="en-US" b="true" sz="1874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Streamlit</a:t>
              </a:r>
              <a:r>
                <a:rPr lang="en-US" sz="1874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que permite aos utilizadores interagir com o modelo de previsão em tempo real.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3636522" y="3046560"/>
              <a:ext cx="8511685" cy="3457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73"/>
                </a:lnSpc>
              </a:pPr>
              <a:r>
                <a:rPr lang="en-US" b="true" sz="1498">
                  <a:solidFill>
                    <a:srgbClr val="2B25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Ficheiro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13636522" y="3418060"/>
              <a:ext cx="8511685" cy="40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41594" indent="-170797" lvl="1">
                <a:lnSpc>
                  <a:spcPts val="2611"/>
                </a:lnSpc>
                <a:buFont typeface="Arial"/>
                <a:buChar char="•"/>
              </a:pPr>
              <a:r>
                <a:rPr lang="en-US" b="true" sz="1582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appUI.py</a:t>
              </a:r>
              <a:r>
                <a:rPr lang="en-US" sz="158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- Implementação da interface gráfica funcional.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13636522" y="4941737"/>
              <a:ext cx="8511685" cy="3457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73"/>
                </a:lnSpc>
              </a:pPr>
              <a:r>
                <a:rPr lang="en-US" b="true" sz="1498">
                  <a:solidFill>
                    <a:srgbClr val="2B25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Funcionalidade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13636522" y="5313237"/>
              <a:ext cx="8511685" cy="8381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41594" indent="-170797" lvl="1">
                <a:lnSpc>
                  <a:spcPts val="2611"/>
                </a:lnSpc>
                <a:buFont typeface="Arial"/>
                <a:buChar char="•"/>
              </a:pPr>
              <a:r>
                <a:rPr lang="en-US" sz="158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Entrada de dados (província, precipitação, etc.) para gerar </a:t>
              </a:r>
              <a:r>
                <a:rPr lang="en-US" b="true" sz="1582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probabilidade de inundação</a:t>
              </a:r>
              <a:r>
                <a:rPr lang="en-US" sz="158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em tempo real.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12674671" y="7210067"/>
              <a:ext cx="9473536" cy="332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23"/>
                </a:lnSpc>
              </a:pPr>
              <a:r>
                <a:rPr lang="en-US" b="true" sz="1404" spc="2">
                  <a:solidFill>
                    <a:srgbClr val="2B25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Stack Tecnológico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12674671" y="7716993"/>
              <a:ext cx="9473536" cy="348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41594" indent="-170797" lvl="1">
                <a:lnSpc>
                  <a:spcPts val="1958"/>
                </a:lnSpc>
                <a:buFont typeface="Arial"/>
                <a:buChar char="•"/>
              </a:pPr>
              <a:r>
                <a:rPr lang="en-US" sz="158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Streamlit - Interface web rápida e acessível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2674671" y="8245457"/>
              <a:ext cx="9473536" cy="348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41594" indent="-170797" lvl="1">
                <a:lnSpc>
                  <a:spcPts val="1958"/>
                </a:lnSpc>
                <a:buFont typeface="Arial"/>
                <a:buChar char="•"/>
              </a:pPr>
              <a:r>
                <a:rPr lang="en-US" sz="158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- Backend de processamento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12674671" y="8773918"/>
              <a:ext cx="9473536" cy="348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41594" indent="-170797" lvl="1">
                <a:lnSpc>
                  <a:spcPts val="1958"/>
                </a:lnSpc>
                <a:buFont typeface="Arial"/>
                <a:buChar char="•"/>
              </a:pPr>
              <a:r>
                <a:rPr lang="en-US" sz="158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Modelos ML - Previsão inteligente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9314" y="1365230"/>
            <a:ext cx="9593518" cy="948447"/>
            <a:chOff x="0" y="0"/>
            <a:chExt cx="12791358" cy="12645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12765913" cy="1239139"/>
            </a:xfrm>
            <a:custGeom>
              <a:avLst/>
              <a:gdLst/>
              <a:ahLst/>
              <a:cxnLst/>
              <a:rect r="r" b="b" t="t" l="l"/>
              <a:pathLst>
                <a:path h="1239139" w="12765913">
                  <a:moveTo>
                    <a:pt x="0" y="0"/>
                  </a:moveTo>
                  <a:lnTo>
                    <a:pt x="12765913" y="0"/>
                  </a:lnTo>
                  <a:lnTo>
                    <a:pt x="1276591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9314" y="1177768"/>
            <a:ext cx="11653162" cy="1323369"/>
            <a:chOff x="0" y="0"/>
            <a:chExt cx="15537550" cy="17644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37551" cy="1764492"/>
            </a:xfrm>
            <a:custGeom>
              <a:avLst/>
              <a:gdLst/>
              <a:ahLst/>
              <a:cxnLst/>
              <a:rect r="r" b="b" t="t" l="l"/>
              <a:pathLst>
                <a:path h="1764492" w="15537551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15537550" cy="1707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27"/>
                </a:lnSpc>
              </a:pPr>
              <a:r>
                <a:rPr lang="en-US" b="true" sz="5025" spc="2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Conclusão e Trabalho futuro</a:t>
              </a: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120981" y="744174"/>
            <a:ext cx="2921214" cy="248720"/>
            <a:chOff x="0" y="0"/>
            <a:chExt cx="3894952" cy="331626"/>
          </a:xfrm>
        </p:grpSpPr>
        <p:sp>
          <p:nvSpPr>
            <p:cNvPr name="Freeform 8" id="8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t="0" r="-2067" b="-8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10" id="10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t="0" r="-582" b="5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12" id="12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" r="0" b="-227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13" b="3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800882" y="2420069"/>
            <a:ext cx="8980945" cy="6378989"/>
            <a:chOff x="0" y="0"/>
            <a:chExt cx="10191749" cy="72390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0191750" cy="7239000"/>
            </a:xfrm>
            <a:custGeom>
              <a:avLst/>
              <a:gdLst/>
              <a:ahLst/>
              <a:cxnLst/>
              <a:rect r="r" b="b" t="t" l="l"/>
              <a:pathLst>
                <a:path h="7239000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31" r="0" b="-131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978680" y="2277194"/>
            <a:ext cx="7643812" cy="69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616" b="true">
                <a:solidFill>
                  <a:srgbClr val="FF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Conclusão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78680" y="3128112"/>
            <a:ext cx="7643812" cy="416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1770">
                <a:solidFill>
                  <a:srgbClr val="0A24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Protegendo Vidas Através da Inovação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78680" y="3843187"/>
            <a:ext cx="7643812" cy="80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17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Este projeto representa um passo crucial na utilização da </a:t>
            </a:r>
            <a:r>
              <a:rPr lang="en-US" b="true" sz="175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tecnologia inteligente</a:t>
            </a:r>
            <a:r>
              <a:rPr lang="en-US" sz="17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para salvar vidas e proteger o património em Angola.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78680" y="5072297"/>
            <a:ext cx="7643812" cy="1485900"/>
            <a:chOff x="0" y="0"/>
            <a:chExt cx="10191749" cy="19812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0191749" cy="1981200"/>
              <a:chOff x="0" y="0"/>
              <a:chExt cx="10191749" cy="19812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0191750" cy="1981200"/>
              </a:xfrm>
              <a:custGeom>
                <a:avLst/>
                <a:gdLst/>
                <a:ahLst/>
                <a:cxnLst/>
                <a:rect r="r" b="b" t="t" l="l"/>
                <a:pathLst>
                  <a:path h="1981200" w="10191750">
                    <a:moveTo>
                      <a:pt x="0" y="0"/>
                    </a:moveTo>
                    <a:lnTo>
                      <a:pt x="10191750" y="0"/>
                    </a:lnTo>
                    <a:lnTo>
                      <a:pt x="10191750" y="1981200"/>
                    </a:lnTo>
                    <a:lnTo>
                      <a:pt x="0" y="1981200"/>
                    </a:lnTo>
                    <a:close/>
                  </a:path>
                </a:pathLst>
              </a:custGeom>
              <a:solidFill>
                <a:srgbClr val="3BCEAC">
                  <a:alpha val="784"/>
                </a:srgbClr>
              </a:soli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0"/>
              <a:ext cx="57149" cy="1981200"/>
              <a:chOff x="0" y="0"/>
              <a:chExt cx="57149" cy="19812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57150" cy="1981200"/>
              </a:xfrm>
              <a:custGeom>
                <a:avLst/>
                <a:gdLst/>
                <a:ahLst/>
                <a:cxnLst/>
                <a:rect r="r" b="b" t="t" l="l"/>
                <a:pathLst>
                  <a:path h="1981200" w="57150">
                    <a:moveTo>
                      <a:pt x="0" y="0"/>
                    </a:moveTo>
                    <a:lnTo>
                      <a:pt x="57150" y="0"/>
                    </a:lnTo>
                    <a:lnTo>
                      <a:pt x="57150" y="1981200"/>
                    </a:lnTo>
                    <a:lnTo>
                      <a:pt x="0" y="1981200"/>
                    </a:lnTo>
                    <a:close/>
                  </a:path>
                </a:pathLst>
              </a:custGeom>
              <a:solidFill>
                <a:srgbClr val="3BCEAC"/>
              </a:solidFill>
            </p:spPr>
          </p:sp>
        </p:grpSp>
        <p:sp>
          <p:nvSpPr>
            <p:cNvPr name="TextBox 29" id="29"/>
            <p:cNvSpPr txBox="true"/>
            <p:nvPr/>
          </p:nvSpPr>
          <p:spPr>
            <a:xfrm rot="0">
              <a:off x="181356" y="48006"/>
              <a:ext cx="9829037" cy="15562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58"/>
                </a:lnSpc>
              </a:pPr>
              <a:r>
                <a:rPr lang="en-US" sz="175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 alertas de </a:t>
              </a:r>
              <a:r>
                <a:rPr lang="en-US" b="true" sz="175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a 6 horas de antecedência</a:t>
              </a:r>
              <a:r>
                <a:rPr lang="en-US" sz="175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, comunidades vulneráveis ganham tempo precioso para se prepararem e protegerem-se de inundações devastadoras.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978680" y="6847462"/>
            <a:ext cx="7643812" cy="80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17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 sistema demonstra como </a:t>
            </a:r>
            <a:r>
              <a:rPr lang="en-US" b="true" sz="175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Machine Learning</a:t>
            </a:r>
            <a:r>
              <a:rPr lang="en-US" sz="17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 dados geoespaciais podem ser aplicados para resolver problemas reais e urgentes nas cidades africanas.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19017" y="7990846"/>
            <a:ext cx="7643812" cy="400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b="true" sz="2167" spc="3">
                <a:solidFill>
                  <a:srgbClr val="201F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Saiba Mais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619017" y="8377637"/>
            <a:ext cx="7643812" cy="699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b="true" sz="136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Repositório GitHub:</a:t>
            </a:r>
          </a:p>
          <a:p>
            <a:pPr algn="l">
              <a:lnSpc>
                <a:spcPts val="2805"/>
              </a:lnSpc>
            </a:pPr>
            <a:r>
              <a:rPr lang="en-US" b="true" sz="136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github.com/Laurinda-Carlos/alerta-inundacao-angola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9314" y="1365230"/>
            <a:ext cx="9593518" cy="948447"/>
            <a:chOff x="0" y="0"/>
            <a:chExt cx="12791358" cy="12645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12765913" cy="1239139"/>
            </a:xfrm>
            <a:custGeom>
              <a:avLst/>
              <a:gdLst/>
              <a:ahLst/>
              <a:cxnLst/>
              <a:rect r="r" b="b" t="t" l="l"/>
              <a:pathLst>
                <a:path h="1239139" w="12765913">
                  <a:moveTo>
                    <a:pt x="0" y="0"/>
                  </a:moveTo>
                  <a:lnTo>
                    <a:pt x="12765913" y="0"/>
                  </a:lnTo>
                  <a:lnTo>
                    <a:pt x="1276591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9314" y="1177768"/>
            <a:ext cx="11653162" cy="1323369"/>
            <a:chOff x="0" y="0"/>
            <a:chExt cx="15537550" cy="17644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37551" cy="1764492"/>
            </a:xfrm>
            <a:custGeom>
              <a:avLst/>
              <a:gdLst/>
              <a:ahLst/>
              <a:cxnLst/>
              <a:rect r="r" b="b" t="t" l="l"/>
              <a:pathLst>
                <a:path h="1764492" w="15537551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15537550" cy="1707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27"/>
                </a:lnSpc>
              </a:pPr>
              <a:r>
                <a:rPr lang="en-US" b="true" sz="5025" spc="2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Conclusão e Trabalho futuro</a:t>
              </a: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120981" y="744174"/>
            <a:ext cx="2921214" cy="248720"/>
            <a:chOff x="0" y="0"/>
            <a:chExt cx="3894952" cy="331626"/>
          </a:xfrm>
        </p:grpSpPr>
        <p:sp>
          <p:nvSpPr>
            <p:cNvPr name="Freeform 8" id="8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t="0" r="-2067" b="-8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10" id="10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t="0" r="-582" b="5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12" id="12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" r="0" b="-227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13" b="3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38678" y="2539238"/>
            <a:ext cx="6385335" cy="6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5"/>
              </a:lnSpc>
            </a:pPr>
            <a:r>
              <a:rPr lang="en-US" sz="2910" b="true">
                <a:solidFill>
                  <a:srgbClr val="FB36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Próximos Passos e Futuro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38678" y="3516046"/>
            <a:ext cx="6385335" cy="36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b="true" sz="1942" spc="6">
                <a:solidFill>
                  <a:srgbClr val="201F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Estado Atual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38678" y="3871127"/>
            <a:ext cx="6385335" cy="874019"/>
            <a:chOff x="0" y="0"/>
            <a:chExt cx="10577216" cy="1447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77195" cy="1447800"/>
            </a:xfrm>
            <a:custGeom>
              <a:avLst/>
              <a:gdLst/>
              <a:ahLst/>
              <a:cxnLst/>
              <a:rect r="r" b="b" t="t" l="l"/>
              <a:pathLst>
                <a:path h="1447800" w="10577195">
                  <a:moveTo>
                    <a:pt x="0" y="0"/>
                  </a:moveTo>
                  <a:lnTo>
                    <a:pt x="10577195" y="0"/>
                  </a:lnTo>
                  <a:lnTo>
                    <a:pt x="10577195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3BCEAC">
                <a:alpha val="392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38678" y="3871127"/>
            <a:ext cx="34500" cy="874019"/>
            <a:chOff x="0" y="0"/>
            <a:chExt cx="57149" cy="1447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71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3BCEAC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434564" y="3833663"/>
            <a:ext cx="6193562" cy="784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17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Modelo treinado e interface funcional com capacidade de previsão operacional.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38678" y="5069480"/>
            <a:ext cx="6385335" cy="33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b="true" sz="1801" spc="6">
                <a:solidFill>
                  <a:srgbClr val="201F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Próximos Passos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38678" y="5438036"/>
            <a:ext cx="368008" cy="368008"/>
            <a:chOff x="0" y="0"/>
            <a:chExt cx="609600" cy="609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6096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365" b="true">
                  <a:solidFill>
                    <a:srgbClr val="0A24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867690" y="5376936"/>
            <a:ext cx="5856323" cy="22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0"/>
              </a:lnSpc>
            </a:pPr>
            <a:r>
              <a:rPr lang="en-US" b="true" sz="1260">
                <a:solidFill>
                  <a:srgbClr val="0A24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Integração com Dados em Tempo Real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67690" y="5603342"/>
            <a:ext cx="5856323" cy="260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3"/>
              </a:lnSpc>
            </a:pPr>
            <a:r>
              <a:rPr lang="en-US" sz="124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Conectar APIs meteorológicas e hidrológicas para alimentação contínua do modelo.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38678" y="6335056"/>
            <a:ext cx="368008" cy="368008"/>
            <a:chOff x="0" y="0"/>
            <a:chExt cx="609600" cy="609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096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365" b="true">
                  <a:solidFill>
                    <a:srgbClr val="0A24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867690" y="6273955"/>
            <a:ext cx="5856323" cy="22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0"/>
              </a:lnSpc>
            </a:pPr>
            <a:r>
              <a:rPr lang="en-US" b="true" sz="1260">
                <a:solidFill>
                  <a:srgbClr val="0A24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Validação e Testes em Campo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867690" y="6500360"/>
            <a:ext cx="5856323" cy="260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3"/>
              </a:lnSpc>
            </a:pPr>
            <a:r>
              <a:rPr lang="en-US" sz="124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Colaboração com autoridades locais e comunidades para validar precisão e eficácia.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338678" y="7232075"/>
            <a:ext cx="368008" cy="368008"/>
            <a:chOff x="0" y="0"/>
            <a:chExt cx="609600" cy="609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6096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365" b="true">
                  <a:solidFill>
                    <a:srgbClr val="0A24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867690" y="7170975"/>
            <a:ext cx="5856323" cy="22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0"/>
              </a:lnSpc>
            </a:pPr>
            <a:r>
              <a:rPr lang="en-US" b="true" sz="1260">
                <a:solidFill>
                  <a:srgbClr val="0A24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Expansão Geográfica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867690" y="7397381"/>
            <a:ext cx="5856323" cy="260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3"/>
              </a:lnSpc>
            </a:pPr>
            <a:r>
              <a:rPr lang="en-US" sz="124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Replicação do sistema para outras províncias de Angola com risco de inundação.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338678" y="8065843"/>
            <a:ext cx="6385335" cy="1094771"/>
            <a:chOff x="0" y="0"/>
            <a:chExt cx="10577216" cy="18134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577195" cy="1813433"/>
            </a:xfrm>
            <a:custGeom>
              <a:avLst/>
              <a:gdLst/>
              <a:ahLst/>
              <a:cxnLst/>
              <a:rect r="r" b="b" t="t" l="l"/>
              <a:pathLst>
                <a:path h="1813433" w="10577195">
                  <a:moveTo>
                    <a:pt x="0" y="0"/>
                  </a:moveTo>
                  <a:lnTo>
                    <a:pt x="10577195" y="0"/>
                  </a:lnTo>
                  <a:lnTo>
                    <a:pt x="10577195" y="1813433"/>
                  </a:lnTo>
                  <a:lnTo>
                    <a:pt x="0" y="1813433"/>
                  </a:lnTo>
                  <a:close/>
                </a:path>
              </a:pathLst>
            </a:custGeom>
            <a:solidFill>
              <a:srgbClr val="201F7C">
                <a:alpha val="392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38678" y="8065843"/>
            <a:ext cx="34500" cy="1094771"/>
            <a:chOff x="0" y="0"/>
            <a:chExt cx="57149" cy="18134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7150" cy="1813433"/>
            </a:xfrm>
            <a:custGeom>
              <a:avLst/>
              <a:gdLst/>
              <a:ahLst/>
              <a:cxnLst/>
              <a:rect r="r" b="b" t="t" l="l"/>
              <a:pathLst>
                <a:path h="1813433" w="57150">
                  <a:moveTo>
                    <a:pt x="0" y="0"/>
                  </a:moveTo>
                  <a:lnTo>
                    <a:pt x="57150" y="0"/>
                  </a:lnTo>
                  <a:lnTo>
                    <a:pt x="57150" y="1813433"/>
                  </a:lnTo>
                  <a:lnTo>
                    <a:pt x="0" y="1813433"/>
                  </a:lnTo>
                  <a:close/>
                </a:path>
              </a:pathLst>
            </a:custGeom>
            <a:solidFill>
              <a:srgbClr val="201F7C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434564" y="8056955"/>
            <a:ext cx="6193562" cy="60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b="true" sz="133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Visão:</a:t>
            </a:r>
            <a:r>
              <a:rPr lang="en-US" sz="133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Transformar a previsão de inundações em Angola através de tecnologia acessível, salvando vidas e protegendo o património das comunidades vulneráveis.</a:t>
            </a:r>
          </a:p>
        </p:txBody>
      </p:sp>
      <p:grpSp>
        <p:nvGrpSpPr>
          <p:cNvPr name="Group 47" id="47"/>
          <p:cNvGrpSpPr>
            <a:grpSpLocks noChangeAspect="true"/>
          </p:cNvGrpSpPr>
          <p:nvPr/>
        </p:nvGrpSpPr>
        <p:grpSpPr>
          <a:xfrm rot="0">
            <a:off x="9521482" y="2663063"/>
            <a:ext cx="8013092" cy="6667449"/>
            <a:chOff x="0" y="0"/>
            <a:chExt cx="9615784" cy="8001000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9615805" cy="8001000"/>
            </a:xfrm>
            <a:custGeom>
              <a:avLst/>
              <a:gdLst/>
              <a:ahLst/>
              <a:cxnLst/>
              <a:rect r="r" b="b" t="t" l="l"/>
              <a:pathLst>
                <a:path h="8001000" w="9615805">
                  <a:moveTo>
                    <a:pt x="0" y="0"/>
                  </a:moveTo>
                  <a:lnTo>
                    <a:pt x="9615805" y="0"/>
                  </a:lnTo>
                  <a:lnTo>
                    <a:pt x="9615805" y="8001000"/>
                  </a:lnTo>
                  <a:lnTo>
                    <a:pt x="0" y="800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3" t="0" r="-23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176" y="2005492"/>
            <a:ext cx="18342351" cy="8316305"/>
            <a:chOff x="0" y="0"/>
            <a:chExt cx="24456468" cy="110884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431117" cy="11062970"/>
            </a:xfrm>
            <a:custGeom>
              <a:avLst/>
              <a:gdLst/>
              <a:ahLst/>
              <a:cxnLst/>
              <a:rect r="r" b="b" t="t" l="l"/>
              <a:pathLst>
                <a:path h="11062970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11062970"/>
                  </a:lnTo>
                  <a:lnTo>
                    <a:pt x="0" y="11062970"/>
                  </a:lnTo>
                  <a:close/>
                </a:path>
              </a:pathLst>
            </a:custGeom>
            <a:solidFill>
              <a:srgbClr val="FE2E45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127473" y="572394"/>
            <a:ext cx="1777568" cy="877906"/>
            <a:chOff x="0" y="0"/>
            <a:chExt cx="2370090" cy="1170542"/>
          </a:xfrm>
        </p:grpSpPr>
        <p:sp>
          <p:nvSpPr>
            <p:cNvPr name="Freeform 5" id="5" descr="Picture 7"/>
            <p:cNvSpPr/>
            <p:nvPr/>
          </p:nvSpPr>
          <p:spPr>
            <a:xfrm flipH="false" flipV="false" rot="0">
              <a:off x="0" y="0"/>
              <a:ext cx="2370074" cy="1170559"/>
            </a:xfrm>
            <a:custGeom>
              <a:avLst/>
              <a:gdLst/>
              <a:ahLst/>
              <a:cxnLst/>
              <a:rect r="r" b="b" t="t" l="l"/>
              <a:pathLst>
                <a:path h="1170559" w="2370074">
                  <a:moveTo>
                    <a:pt x="0" y="0"/>
                  </a:moveTo>
                  <a:lnTo>
                    <a:pt x="2370074" y="0"/>
                  </a:lnTo>
                  <a:lnTo>
                    <a:pt x="2370074" y="1170559"/>
                  </a:lnTo>
                  <a:lnTo>
                    <a:pt x="0" y="117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1" t="0" r="-562" b="1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3445664" y="434190"/>
            <a:ext cx="1458211" cy="1119732"/>
            <a:chOff x="0" y="0"/>
            <a:chExt cx="1944282" cy="1492976"/>
          </a:xfrm>
        </p:grpSpPr>
        <p:sp>
          <p:nvSpPr>
            <p:cNvPr name="Freeform 7" id="7" descr="Picture 9"/>
            <p:cNvSpPr/>
            <p:nvPr/>
          </p:nvSpPr>
          <p:spPr>
            <a:xfrm flipH="false" flipV="false" rot="0">
              <a:off x="0" y="0"/>
              <a:ext cx="1944243" cy="1493012"/>
            </a:xfrm>
            <a:custGeom>
              <a:avLst/>
              <a:gdLst/>
              <a:ahLst/>
              <a:cxnLst/>
              <a:rect r="r" b="b" t="t" l="l"/>
              <a:pathLst>
                <a:path h="1493012" w="1944243">
                  <a:moveTo>
                    <a:pt x="0" y="0"/>
                  </a:moveTo>
                  <a:lnTo>
                    <a:pt x="1944243" y="0"/>
                  </a:lnTo>
                  <a:lnTo>
                    <a:pt x="1944243" y="1493012"/>
                  </a:lnTo>
                  <a:lnTo>
                    <a:pt x="0" y="149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" t="0" r="-109" b="2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7201592" y="146404"/>
            <a:ext cx="808054" cy="1617030"/>
            <a:chOff x="0" y="0"/>
            <a:chExt cx="1077406" cy="2156040"/>
          </a:xfrm>
        </p:grpSpPr>
        <p:sp>
          <p:nvSpPr>
            <p:cNvPr name="Freeform 9" id="9" descr="pasted-movie.png"/>
            <p:cNvSpPr/>
            <p:nvPr/>
          </p:nvSpPr>
          <p:spPr>
            <a:xfrm flipH="false" flipV="false" rot="0">
              <a:off x="0" y="0"/>
              <a:ext cx="1077468" cy="2156079"/>
            </a:xfrm>
            <a:custGeom>
              <a:avLst/>
              <a:gdLst/>
              <a:ahLst/>
              <a:cxnLst/>
              <a:rect r="r" b="b" t="t" l="l"/>
              <a:pathLst>
                <a:path h="2156079" w="1077468">
                  <a:moveTo>
                    <a:pt x="0" y="0"/>
                  </a:moveTo>
                  <a:lnTo>
                    <a:pt x="1077468" y="0"/>
                  </a:lnTo>
                  <a:lnTo>
                    <a:pt x="1077468" y="2156079"/>
                  </a:lnTo>
                  <a:lnTo>
                    <a:pt x="0" y="215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04" r="5" b="-602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1943321" y="366993"/>
            <a:ext cx="1380389" cy="1175602"/>
            <a:chOff x="0" y="0"/>
            <a:chExt cx="1840518" cy="1567470"/>
          </a:xfrm>
        </p:grpSpPr>
        <p:sp>
          <p:nvSpPr>
            <p:cNvPr name="Freeform 11" id="11" descr="pasted-movie.png"/>
            <p:cNvSpPr/>
            <p:nvPr/>
          </p:nvSpPr>
          <p:spPr>
            <a:xfrm flipH="false" flipV="false" rot="0">
              <a:off x="0" y="0"/>
              <a:ext cx="1840484" cy="1567434"/>
            </a:xfrm>
            <a:custGeom>
              <a:avLst/>
              <a:gdLst/>
              <a:ahLst/>
              <a:cxnLst/>
              <a:rect r="r" b="b" t="t" l="l"/>
              <a:pathLst>
                <a:path h="1567434" w="1840484">
                  <a:moveTo>
                    <a:pt x="0" y="0"/>
                  </a:moveTo>
                  <a:lnTo>
                    <a:pt x="1840484" y="0"/>
                  </a:lnTo>
                  <a:lnTo>
                    <a:pt x="1840484" y="1567434"/>
                  </a:lnTo>
                  <a:lnTo>
                    <a:pt x="0" y="1567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378" t="-31606" r="-19623" b="-31609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1762031" y="3523382"/>
            <a:ext cx="4397618" cy="4274686"/>
            <a:chOff x="0" y="0"/>
            <a:chExt cx="5863490" cy="5699582"/>
          </a:xfrm>
        </p:grpSpPr>
        <p:sp>
          <p:nvSpPr>
            <p:cNvPr name="Freeform 13" id="13" descr="Image"/>
            <p:cNvSpPr/>
            <p:nvPr/>
          </p:nvSpPr>
          <p:spPr>
            <a:xfrm flipH="false" flipV="false" rot="0">
              <a:off x="0" y="0"/>
              <a:ext cx="5863463" cy="5699633"/>
            </a:xfrm>
            <a:custGeom>
              <a:avLst/>
              <a:gdLst/>
              <a:ahLst/>
              <a:cxnLst/>
              <a:rect r="r" b="b" t="t" l="l"/>
              <a:pathLst>
                <a:path h="5699633" w="5863463">
                  <a:moveTo>
                    <a:pt x="0" y="0"/>
                  </a:moveTo>
                  <a:lnTo>
                    <a:pt x="5863463" y="0"/>
                  </a:lnTo>
                  <a:lnTo>
                    <a:pt x="5863463" y="5699633"/>
                  </a:lnTo>
                  <a:lnTo>
                    <a:pt x="0" y="5699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1" r="0" b="-4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297187" y="4932487"/>
            <a:ext cx="7754892" cy="3521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b="true" sz="10800" spc="43">
                <a:solidFill>
                  <a:srgbClr val="FFFFFF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Obrigado!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-915027" y="962024"/>
            <a:ext cx="7541746" cy="10555052"/>
            <a:chOff x="0" y="0"/>
            <a:chExt cx="10055662" cy="14073402"/>
          </a:xfrm>
        </p:grpSpPr>
        <p:sp>
          <p:nvSpPr>
            <p:cNvPr name="Freeform 16" id="16" descr="Image"/>
            <p:cNvSpPr/>
            <p:nvPr/>
          </p:nvSpPr>
          <p:spPr>
            <a:xfrm flipH="false" flipV="false" rot="0">
              <a:off x="0" y="0"/>
              <a:ext cx="10055606" cy="14073378"/>
            </a:xfrm>
            <a:custGeom>
              <a:avLst/>
              <a:gdLst/>
              <a:ahLst/>
              <a:cxnLst/>
              <a:rect r="r" b="b" t="t" l="l"/>
              <a:pathLst>
                <a:path h="14073378" w="10055606">
                  <a:moveTo>
                    <a:pt x="0" y="0"/>
                  </a:moveTo>
                  <a:lnTo>
                    <a:pt x="10055606" y="0"/>
                  </a:lnTo>
                  <a:lnTo>
                    <a:pt x="10055606" y="14073378"/>
                  </a:lnTo>
                  <a:lnTo>
                    <a:pt x="0" y="14073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6" r="0" b="-16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DAG4hMxopbQ</dc:identifier>
  <dcterms:modified xsi:type="dcterms:W3CDTF">2011-08-01T06:04:30Z</dcterms:modified>
  <cp:revision>1</cp:revision>
  <dc:title>Frontier_Tech_Leaders_ Programme_Capstone_Template.pptx</dc:title>
</cp:coreProperties>
</file>